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2404050" cy="43205400"/>
  <p:notesSz cx="6858000" cy="9710738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5930" indent="1905" algn="l" rtl="0" fontAlgn="base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3130" indent="1905" algn="l" rtl="0" fontAlgn="base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0330" indent="1905" algn="l" rtl="0" fontAlgn="base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7530" indent="1905" algn="l" rtl="0" fontAlgn="base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8" userDrawn="1">
          <p15:clr>
            <a:srgbClr val="A4A3A4"/>
          </p15:clr>
        </p15:guide>
        <p15:guide id="2" pos="102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CB4040"/>
    <a:srgbClr val="CD4141"/>
    <a:srgbClr val="C84646"/>
    <a:srgbClr val="008080"/>
    <a:srgbClr val="619A36"/>
    <a:srgbClr val="FF0000"/>
    <a:srgbClr val="006C00"/>
    <a:srgbClr val="C1F4A8"/>
    <a:srgbClr val="FFEB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6765" autoAdjust="0"/>
    <p:restoredTop sz="96595" autoAdjust="0"/>
  </p:normalViewPr>
  <p:slideViewPr>
    <p:cSldViewPr showGuides="1">
      <p:cViewPr>
        <p:scale>
          <a:sx n="33" d="100"/>
          <a:sy n="33" d="100"/>
        </p:scale>
        <p:origin x="24" y="-882"/>
      </p:cViewPr>
      <p:guideLst>
        <p:guide orient="horz" pos="13608"/>
        <p:guide pos="102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>
        <c:manualLayout>
          <c:layoutTarget val="inner"/>
          <c:xMode val="edge"/>
          <c:yMode val="edge"/>
          <c:x val="0"/>
          <c:y val="0.185000759911258"/>
          <c:w val="0.72722358209593196"/>
          <c:h val="0.65381744940763398"/>
        </c:manualLayout>
      </c:layout>
      <c:pie3DChart>
        <c:varyColors val="1"/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plotVisOnly val="1"/>
    <c:dispBlanksAs val="zero"/>
    <c:showDLblsOverMax val="0"/>
    <c:extLst>
      <c:ext uri="{0b15fc19-7d7d-44ad-8c2d-2c3a37ce22c3}">
        <chartProps xmlns="https://web.wps.cn/et/2018/main" chartId="{febf08c3-dec5-481d-a904-e5686aa9ebce}"/>
      </c:ext>
    </c:extLst>
  </c:chart>
  <c:spPr>
    <a:noFill/>
    <a:ln>
      <a:noFill/>
    </a:ln>
    <a:effectLst/>
  </c:spPr>
  <c:txPr>
    <a:bodyPr/>
    <a:lstStyle/>
    <a:p>
      <a:pPr>
        <a:defRPr lang="pt-BR" sz="300"/>
      </a:pPr>
      <a:endParaRPr lang="pt-B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4339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C4A5D341-4EBE-4A71-8129-9C53C0EA2457}" type="datetimeFigureOut">
              <a:rPr lang="pt-BR"/>
              <a:t>15/09/2026</a:t>
            </a:fld>
            <a:endParaRPr lang="pt-BR"/>
          </a:p>
        </p:txBody>
      </p:sp>
      <p:sp>
        <p:nvSpPr>
          <p:cNvPr id="3076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085975" y="762000"/>
            <a:ext cx="2686050" cy="3581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4341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648200"/>
            <a:ext cx="5029200" cy="434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14342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202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4343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2202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1F1E8F8A-9447-4DD4-8418-04C6B534993D}" type="slidenum">
              <a:rPr lang="pt-BR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99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pt-BR" altLang="pt-BR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2430304" y="13421680"/>
            <a:ext cx="27543443" cy="926115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4860608" y="24483060"/>
            <a:ext cx="22682835" cy="110413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596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199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479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639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7994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959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118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278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BEB365-19CE-49BC-A87B-5FAE5E1096C2}" type="datetimeFigureOut">
              <a:rPr lang="pt-BR" altLang="pt-BR"/>
              <a:t>15/09/2026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133578-FC4D-4DF7-9385-231932049281}" type="slidenum">
              <a:rPr lang="pt-BR" altLang="pt-BR"/>
              <a:t>‹nº›</a:t>
            </a:fld>
            <a:endParaRPr lang="pt-BR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92F7D1-0405-42EE-ACB5-97F5B85A7B86}" type="datetimeFigureOut">
              <a:rPr lang="pt-BR" altLang="pt-BR"/>
              <a:t>15/09/2026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5F217F-38D1-49F0-A4BD-4C67E474F56A}" type="slidenum">
              <a:rPr lang="pt-BR" altLang="pt-BR"/>
              <a:t>‹nº›</a:t>
            </a:fld>
            <a:endParaRPr lang="pt-BR" alt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559696" y="27763479"/>
            <a:ext cx="27543443" cy="8581073"/>
          </a:xfrm>
        </p:spPr>
        <p:txBody>
          <a:bodyPr anchor="t"/>
          <a:lstStyle>
            <a:lvl1pPr algn="l">
              <a:defRPr sz="189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2559696" y="18312295"/>
            <a:ext cx="27543443" cy="9451178"/>
          </a:xfrm>
        </p:spPr>
        <p:txBody>
          <a:bodyPr anchor="b"/>
          <a:lstStyle>
            <a:lvl1pPr marL="0" indent="0">
              <a:buNone/>
              <a:defRPr sz="9500">
                <a:solidFill>
                  <a:schemeClr val="tx1">
                    <a:tint val="75000"/>
                  </a:schemeClr>
                </a:solidFill>
              </a:defRPr>
            </a:lvl1pPr>
            <a:lvl2pPr marL="2159635" indent="0">
              <a:buNone/>
              <a:defRPr sz="8500">
                <a:solidFill>
                  <a:schemeClr val="tx1">
                    <a:tint val="75000"/>
                  </a:schemeClr>
                </a:solidFill>
              </a:defRPr>
            </a:lvl2pPr>
            <a:lvl3pPr marL="4319905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3pPr>
            <a:lvl4pPr marL="647954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4pPr>
            <a:lvl5pPr marL="8639175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5pPr>
            <a:lvl6pPr marL="10799445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6pPr>
            <a:lvl7pPr marL="1295908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7pPr>
            <a:lvl8pPr marL="15118715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8pPr>
            <a:lvl9pPr marL="17278985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B227FD-2D5D-4278-8F15-0E483FE2EC43}" type="datetimeFigureOut">
              <a:rPr lang="pt-BR" altLang="pt-BR"/>
              <a:t>15/09/2026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676C4D-C133-4E51-A632-28D13FBF31FD}" type="slidenum">
              <a:rPr lang="pt-BR" altLang="pt-BR"/>
              <a:t>‹nº›</a:t>
            </a:fld>
            <a:endParaRPr lang="pt-BR" alt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5743846" y="63507947"/>
            <a:ext cx="51402048" cy="179642453"/>
          </a:xfr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57685960" y="63507947"/>
            <a:ext cx="51402051" cy="179642453"/>
          </a:xfr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52793D-877F-4D63-AA58-5607ED782E45}" type="datetimeFigureOut">
              <a:rPr lang="pt-BR" altLang="pt-BR"/>
              <a:t>15/09/2026</a:t>
            </a:fld>
            <a:endParaRPr lang="pt-BR" alt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217B76-1F3E-499F-AB60-DDC0876F818F}" type="slidenum">
              <a:rPr lang="pt-BR" altLang="pt-BR"/>
              <a:t>‹nº›</a:t>
            </a:fld>
            <a:endParaRPr lang="pt-BR" alt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620203" y="1730219"/>
            <a:ext cx="29163645" cy="72009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620203" y="9671212"/>
            <a:ext cx="14317416" cy="4030501"/>
          </a:xfrm>
        </p:spPr>
        <p:txBody>
          <a:bodyPr anchor="b"/>
          <a:lstStyle>
            <a:lvl1pPr marL="0" indent="0">
              <a:buNone/>
              <a:defRPr sz="11300" b="1"/>
            </a:lvl1pPr>
            <a:lvl2pPr marL="2159635" indent="0">
              <a:buNone/>
              <a:defRPr sz="9500" b="1"/>
            </a:lvl2pPr>
            <a:lvl3pPr marL="4319905" indent="0">
              <a:buNone/>
              <a:defRPr sz="8500" b="1"/>
            </a:lvl3pPr>
            <a:lvl4pPr marL="6479540" indent="0">
              <a:buNone/>
              <a:defRPr sz="7600" b="1"/>
            </a:lvl4pPr>
            <a:lvl5pPr marL="8639175" indent="0">
              <a:buNone/>
              <a:defRPr sz="7600" b="1"/>
            </a:lvl5pPr>
            <a:lvl6pPr marL="10799445" indent="0">
              <a:buNone/>
              <a:defRPr sz="7600" b="1"/>
            </a:lvl6pPr>
            <a:lvl7pPr marL="12959080" indent="0">
              <a:buNone/>
              <a:defRPr sz="7600" b="1"/>
            </a:lvl7pPr>
            <a:lvl8pPr marL="15118715" indent="0">
              <a:buNone/>
              <a:defRPr sz="7600" b="1"/>
            </a:lvl8pPr>
            <a:lvl9pPr marL="17278985" indent="0">
              <a:buNone/>
              <a:defRPr sz="7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1620203" y="13701713"/>
            <a:ext cx="14317416" cy="24893114"/>
          </a:xfr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16460809" y="9671212"/>
            <a:ext cx="14323040" cy="4030501"/>
          </a:xfrm>
        </p:spPr>
        <p:txBody>
          <a:bodyPr anchor="b"/>
          <a:lstStyle>
            <a:lvl1pPr marL="0" indent="0">
              <a:buNone/>
              <a:defRPr sz="11300" b="1"/>
            </a:lvl1pPr>
            <a:lvl2pPr marL="2159635" indent="0">
              <a:buNone/>
              <a:defRPr sz="9500" b="1"/>
            </a:lvl2pPr>
            <a:lvl3pPr marL="4319905" indent="0">
              <a:buNone/>
              <a:defRPr sz="8500" b="1"/>
            </a:lvl3pPr>
            <a:lvl4pPr marL="6479540" indent="0">
              <a:buNone/>
              <a:defRPr sz="7600" b="1"/>
            </a:lvl4pPr>
            <a:lvl5pPr marL="8639175" indent="0">
              <a:buNone/>
              <a:defRPr sz="7600" b="1"/>
            </a:lvl5pPr>
            <a:lvl6pPr marL="10799445" indent="0">
              <a:buNone/>
              <a:defRPr sz="7600" b="1"/>
            </a:lvl6pPr>
            <a:lvl7pPr marL="12959080" indent="0">
              <a:buNone/>
              <a:defRPr sz="7600" b="1"/>
            </a:lvl7pPr>
            <a:lvl8pPr marL="15118715" indent="0">
              <a:buNone/>
              <a:defRPr sz="7600" b="1"/>
            </a:lvl8pPr>
            <a:lvl9pPr marL="17278985" indent="0">
              <a:buNone/>
              <a:defRPr sz="7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16460809" y="13701713"/>
            <a:ext cx="14323040" cy="24893114"/>
          </a:xfr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4B865E-3EBC-4265-B375-EEF8F6FBC1A2}" type="datetimeFigureOut">
              <a:rPr lang="pt-BR" altLang="pt-BR"/>
              <a:t>15/09/2026</a:t>
            </a:fld>
            <a:endParaRPr lang="pt-BR" altLang="pt-BR"/>
          </a:p>
        </p:txBody>
      </p:sp>
      <p:sp>
        <p:nvSpPr>
          <p:cNvPr id="8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D5B295-96E2-4D59-BC92-D7EED529F207}" type="slidenum">
              <a:rPr lang="pt-BR" altLang="pt-BR"/>
              <a:t>‹nº›</a:t>
            </a:fld>
            <a:endParaRPr lang="pt-BR" alt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C77728-1E53-4CEC-98BE-EDFDF33A066A}" type="datetimeFigureOut">
              <a:rPr lang="pt-BR" altLang="pt-BR"/>
              <a:t>15/09/2026</a:t>
            </a:fld>
            <a:endParaRPr lang="pt-BR" altLang="pt-BR"/>
          </a:p>
        </p:txBody>
      </p:sp>
      <p:sp>
        <p:nvSpPr>
          <p:cNvPr id="4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CC76D9-17D6-402F-B7E6-18B8F83E8A38}" type="slidenum">
              <a:rPr lang="pt-BR" altLang="pt-BR"/>
              <a:t>‹nº›</a:t>
            </a:fld>
            <a:endParaRPr lang="pt-BR" alt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AEFA4B-8D63-4C75-8413-34904A565DF0}" type="datetimeFigureOut">
              <a:rPr lang="pt-BR" altLang="pt-BR"/>
              <a:t>15/09/2026</a:t>
            </a:fld>
            <a:endParaRPr lang="pt-BR" altLang="pt-BR"/>
          </a:p>
        </p:txBody>
      </p:sp>
      <p:sp>
        <p:nvSpPr>
          <p:cNvPr id="3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4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7F4DC-DA64-479F-8B6C-86875906CC5D}" type="slidenum">
              <a:rPr lang="pt-BR" altLang="pt-BR"/>
              <a:t>‹nº›</a:t>
            </a:fld>
            <a:endParaRPr lang="pt-BR" alt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620208" y="1720215"/>
            <a:ext cx="10660709" cy="7320915"/>
          </a:xfrm>
        </p:spPr>
        <p:txBody>
          <a:bodyPr anchor="b"/>
          <a:lstStyle>
            <a:lvl1pPr algn="l">
              <a:defRPr sz="95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12669083" y="1720218"/>
            <a:ext cx="18114764" cy="36874612"/>
          </a:xfrm>
        </p:spPr>
        <p:txBody>
          <a:bodyPr/>
          <a:lstStyle>
            <a:lvl1pPr>
              <a:defRPr sz="15100"/>
            </a:lvl1pPr>
            <a:lvl2pPr>
              <a:defRPr sz="13200"/>
            </a:lvl2pPr>
            <a:lvl3pPr>
              <a:defRPr sz="11300"/>
            </a:lvl3pPr>
            <a:lvl4pPr>
              <a:defRPr sz="9500"/>
            </a:lvl4pPr>
            <a:lvl5pPr>
              <a:defRPr sz="9500"/>
            </a:lvl5pPr>
            <a:lvl6pPr>
              <a:defRPr sz="9500"/>
            </a:lvl6pPr>
            <a:lvl7pPr>
              <a:defRPr sz="9500"/>
            </a:lvl7pPr>
            <a:lvl8pPr>
              <a:defRPr sz="9500"/>
            </a:lvl8pPr>
            <a:lvl9pPr>
              <a:defRPr sz="95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620208" y="9041139"/>
            <a:ext cx="10660709" cy="29553697"/>
          </a:xfrm>
        </p:spPr>
        <p:txBody>
          <a:bodyPr/>
          <a:lstStyle>
            <a:lvl1pPr marL="0" indent="0">
              <a:buNone/>
              <a:defRPr sz="6600"/>
            </a:lvl1pPr>
            <a:lvl2pPr marL="2159635" indent="0">
              <a:buNone/>
              <a:defRPr sz="5700"/>
            </a:lvl2pPr>
            <a:lvl3pPr marL="4319905" indent="0">
              <a:buNone/>
              <a:defRPr sz="4700"/>
            </a:lvl3pPr>
            <a:lvl4pPr marL="6479540" indent="0">
              <a:buNone/>
              <a:defRPr sz="4300"/>
            </a:lvl4pPr>
            <a:lvl5pPr marL="8639175" indent="0">
              <a:buNone/>
              <a:defRPr sz="4300"/>
            </a:lvl5pPr>
            <a:lvl6pPr marL="10799445" indent="0">
              <a:buNone/>
              <a:defRPr sz="4300"/>
            </a:lvl6pPr>
            <a:lvl7pPr marL="12959080" indent="0">
              <a:buNone/>
              <a:defRPr sz="4300"/>
            </a:lvl7pPr>
            <a:lvl8pPr marL="15118715" indent="0">
              <a:buNone/>
              <a:defRPr sz="4300"/>
            </a:lvl8pPr>
            <a:lvl9pPr marL="17278985" indent="0">
              <a:buNone/>
              <a:defRPr sz="43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3DAC36-816A-41A8-B2AA-21E73DA6278B}" type="datetimeFigureOut">
              <a:rPr lang="pt-BR" altLang="pt-BR"/>
              <a:t>15/09/2026</a:t>
            </a:fld>
            <a:endParaRPr lang="pt-BR" alt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FCB8AF-A0A4-4F7E-B331-B81124D4BECD}" type="slidenum">
              <a:rPr lang="pt-BR" altLang="pt-BR"/>
              <a:t>‹nº›</a:t>
            </a:fld>
            <a:endParaRPr lang="pt-BR" alt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351421" y="30243780"/>
            <a:ext cx="19442430" cy="3570449"/>
          </a:xfrm>
        </p:spPr>
        <p:txBody>
          <a:bodyPr anchor="b"/>
          <a:lstStyle>
            <a:lvl1pPr algn="l">
              <a:defRPr sz="95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6351421" y="3860483"/>
            <a:ext cx="19442430" cy="25923240"/>
          </a:xfrm>
        </p:spPr>
        <p:txBody>
          <a:bodyPr rtlCol="0">
            <a:normAutofit/>
          </a:bodyPr>
          <a:lstStyle>
            <a:lvl1pPr marL="0" indent="0">
              <a:buNone/>
              <a:defRPr sz="15100"/>
            </a:lvl1pPr>
            <a:lvl2pPr marL="2159635" indent="0">
              <a:buNone/>
              <a:defRPr sz="13200"/>
            </a:lvl2pPr>
            <a:lvl3pPr marL="4319905" indent="0">
              <a:buNone/>
              <a:defRPr sz="11300"/>
            </a:lvl3pPr>
            <a:lvl4pPr marL="6479540" indent="0">
              <a:buNone/>
              <a:defRPr sz="9500"/>
            </a:lvl4pPr>
            <a:lvl5pPr marL="8639175" indent="0">
              <a:buNone/>
              <a:defRPr sz="9500"/>
            </a:lvl5pPr>
            <a:lvl6pPr marL="10799445" indent="0">
              <a:buNone/>
              <a:defRPr sz="9500"/>
            </a:lvl6pPr>
            <a:lvl7pPr marL="12959080" indent="0">
              <a:buNone/>
              <a:defRPr sz="9500"/>
            </a:lvl7pPr>
            <a:lvl8pPr marL="15118715" indent="0">
              <a:buNone/>
              <a:defRPr sz="9500"/>
            </a:lvl8pPr>
            <a:lvl9pPr marL="17278985" indent="0">
              <a:buNone/>
              <a:defRPr sz="95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351421" y="33814229"/>
            <a:ext cx="19442430" cy="5070631"/>
          </a:xfrm>
        </p:spPr>
        <p:txBody>
          <a:bodyPr/>
          <a:lstStyle>
            <a:lvl1pPr marL="0" indent="0">
              <a:buNone/>
              <a:defRPr sz="6600"/>
            </a:lvl1pPr>
            <a:lvl2pPr marL="2159635" indent="0">
              <a:buNone/>
              <a:defRPr sz="5700"/>
            </a:lvl2pPr>
            <a:lvl3pPr marL="4319905" indent="0">
              <a:buNone/>
              <a:defRPr sz="4700"/>
            </a:lvl3pPr>
            <a:lvl4pPr marL="6479540" indent="0">
              <a:buNone/>
              <a:defRPr sz="4300"/>
            </a:lvl4pPr>
            <a:lvl5pPr marL="8639175" indent="0">
              <a:buNone/>
              <a:defRPr sz="4300"/>
            </a:lvl5pPr>
            <a:lvl6pPr marL="10799445" indent="0">
              <a:buNone/>
              <a:defRPr sz="4300"/>
            </a:lvl6pPr>
            <a:lvl7pPr marL="12959080" indent="0">
              <a:buNone/>
              <a:defRPr sz="4300"/>
            </a:lvl7pPr>
            <a:lvl8pPr marL="15118715" indent="0">
              <a:buNone/>
              <a:defRPr sz="4300"/>
            </a:lvl8pPr>
            <a:lvl9pPr marL="17278985" indent="0">
              <a:buNone/>
              <a:defRPr sz="43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CE69EE-2AF6-4968-84E0-1B7AF7E95915}" type="datetimeFigureOut">
              <a:rPr lang="pt-BR" altLang="pt-BR"/>
              <a:t>15/09/2026</a:t>
            </a:fld>
            <a:endParaRPr lang="pt-BR" alt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1E55D4-9C53-4FB9-95D7-8EF8556D1932}" type="slidenum">
              <a:rPr lang="pt-BR" altLang="pt-BR"/>
              <a:t>‹nº›</a:t>
            </a:fld>
            <a:endParaRPr lang="pt-BR" alt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4EE6EC-1525-4423-A8D4-82B9DF5BF7ED}" type="datetimeFigureOut">
              <a:rPr lang="pt-BR" altLang="pt-BR"/>
              <a:t>15/09/2026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365D69-862D-4D89-B06B-C9F5F3FD2096}" type="slidenum">
              <a:rPr lang="pt-BR" altLang="pt-BR"/>
              <a:t>‹nº›</a:t>
            </a:fld>
            <a:endParaRPr lang="pt-BR" alt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3254782" y="10901365"/>
            <a:ext cx="25833229" cy="232249028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5743850" y="10901365"/>
            <a:ext cx="76970870" cy="232249028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F35B1-1408-4DD7-84DE-79FAEF80B932}" type="datetimeFigureOut">
              <a:rPr lang="pt-BR" altLang="pt-BR"/>
              <a:t>15/09/2026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E05A92-552F-46A8-BEA5-97C48A893E43}" type="slidenum">
              <a:rPr lang="pt-BR" altLang="pt-BR"/>
              <a:t>‹nº›</a:t>
            </a:fld>
            <a:endParaRPr lang="pt-BR" alt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rgbClr val="F7FAF2">
                <a:alpha val="0"/>
              </a:srgbClr>
            </a:gs>
            <a:gs pos="74380">
              <a:srgbClr val="DDE8C6"/>
            </a:gs>
            <a:gs pos="28126">
              <a:srgbClr val="FFFFFF"/>
            </a:gs>
            <a:gs pos="18750">
              <a:schemeClr val="bg1"/>
            </a:gs>
            <a:gs pos="39000">
              <a:schemeClr val="bg1"/>
            </a:gs>
            <a:gs pos="100000">
              <a:schemeClr val="accent3">
                <a:lumMod val="60000"/>
                <a:lumOff val="4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/>
          <p:cNvSpPr>
            <a:spLocks noGrp="1"/>
          </p:cNvSpPr>
          <p:nvPr>
            <p:ph type="title"/>
          </p:nvPr>
        </p:nvSpPr>
        <p:spPr bwMode="auto">
          <a:xfrm>
            <a:off x="1620838" y="1730375"/>
            <a:ext cx="29162375" cy="7200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431974" tIns="215984" rIns="431974" bIns="215984" numCol="1" anchor="ctr" anchorCtr="0" compatLnSpc="1"/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1620838" y="10080625"/>
            <a:ext cx="29162375" cy="28514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431974" tIns="215984" rIns="431974" bIns="215984" numCol="1" anchor="t" anchorCtr="0" compatLnSpc="1"/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 bwMode="auto">
          <a:xfrm>
            <a:off x="1620838" y="40044688"/>
            <a:ext cx="7559675" cy="2300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431974" tIns="215984" rIns="431974" bIns="215984" numCol="1" anchor="ctr" anchorCtr="0" compatLnSpc="1"/>
          <a:lstStyle>
            <a:lvl1pPr>
              <a:defRPr sz="57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C6A291B-ECA8-4045-8E11-DF4FD6062A15}" type="datetimeFigureOut">
              <a:rPr lang="pt-BR" altLang="pt-BR"/>
              <a:t>15/09/2026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 bwMode="auto">
          <a:xfrm>
            <a:off x="11071225" y="40044688"/>
            <a:ext cx="10261600" cy="2300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431974" tIns="215984" rIns="431974" bIns="215984" numCol="1" anchor="ctr" anchorCtr="0" compatLnSpc="1"/>
          <a:lstStyle>
            <a:lvl1pPr algn="ctr">
              <a:defRPr sz="57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 bwMode="auto">
          <a:xfrm>
            <a:off x="23223538" y="40044688"/>
            <a:ext cx="7559675" cy="2300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431974" tIns="215984" rIns="431974" bIns="215984" numCol="1" anchor="ctr" anchorCtr="0" compatLnSpc="1"/>
          <a:lstStyle>
            <a:lvl1pPr algn="r">
              <a:defRPr sz="57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7E2F019-5AF5-4F09-9CEE-D55816ED1147}" type="slidenum">
              <a:rPr lang="pt-BR" altLang="pt-BR"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19905" rtl="0" eaLnBrk="0" fontAlgn="base" hangingPunct="0">
        <a:spcBef>
          <a:spcPct val="0"/>
        </a:spcBef>
        <a:spcAft>
          <a:spcPct val="0"/>
        </a:spcAft>
        <a:defRPr sz="208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319905" rtl="0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2pPr>
      <a:lvl3pPr algn="ctr" defTabSz="4319905" rtl="0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3pPr>
      <a:lvl4pPr algn="ctr" defTabSz="4319905" rtl="0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4pPr>
      <a:lvl5pPr algn="ctr" defTabSz="4319905" rtl="0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319905" rtl="0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319905" rtl="0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319905" rtl="0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319905" rtl="0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1617980" indent="-1617980" algn="l" defTabSz="431990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507105" indent="-1348105" algn="l" defTabSz="431990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3200" kern="1200">
          <a:solidFill>
            <a:schemeClr val="tx1"/>
          </a:solidFill>
          <a:latin typeface="+mn-lt"/>
          <a:ea typeface="+mn-ea"/>
          <a:cs typeface="+mn-cs"/>
        </a:defRPr>
      </a:lvl2pPr>
      <a:lvl3pPr marL="5399405" indent="-1078230" algn="l" defTabSz="431990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58405" indent="-1078230" algn="l" defTabSz="431990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717405" indent="-1078230" algn="l" defTabSz="431990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78945" indent="-1080135" algn="l" defTabSz="4319905" rtl="0" eaLnBrk="1" latinLnBrk="0" hangingPunct="1">
        <a:spcBef>
          <a:spcPct val="20000"/>
        </a:spcBef>
        <a:buFont typeface="Arial" panose="020B0604020202020204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4039215" indent="-1080135" algn="l" defTabSz="4319905" rtl="0" eaLnBrk="1" latinLnBrk="0" hangingPunct="1">
        <a:spcBef>
          <a:spcPct val="20000"/>
        </a:spcBef>
        <a:buFont typeface="Arial" panose="020B0604020202020204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198850" indent="-1080135" algn="l" defTabSz="4319905" rtl="0" eaLnBrk="1" latinLnBrk="0" hangingPunct="1">
        <a:spcBef>
          <a:spcPct val="20000"/>
        </a:spcBef>
        <a:buFont typeface="Arial" panose="020B0604020202020204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359120" indent="-1080135" algn="l" defTabSz="4319905" rtl="0" eaLnBrk="1" latinLnBrk="0" hangingPunct="1">
        <a:spcBef>
          <a:spcPct val="20000"/>
        </a:spcBef>
        <a:buFont typeface="Arial" panose="020B0604020202020204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319905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59635" algn="l" defTabSz="4319905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19905" algn="l" defTabSz="4319905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79540" algn="l" defTabSz="4319905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39175" algn="l" defTabSz="4319905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799445" algn="l" defTabSz="4319905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59080" algn="l" defTabSz="4319905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18715" algn="l" defTabSz="4319905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78985" algn="l" defTabSz="4319905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6"/>
          <p:cNvSpPr txBox="1">
            <a:spLocks noChangeArrowheads="1"/>
          </p:cNvSpPr>
          <p:nvPr/>
        </p:nvSpPr>
        <p:spPr bwMode="auto">
          <a:xfrm>
            <a:off x="869061" y="7858059"/>
            <a:ext cx="14832518" cy="118196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15" tIns="45705" rIns="91415" bIns="45705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/>
              <a:t>	Instituições de ensino brasileiras costumam depender de múltiplos sistemas isolados para tarefas interdependentes, como diário de classe, comunicados aos responsáveis e controle de tarefas e provas. Essa fragmentação dificulta o acompanhamento integrado do desempenho e da rotina escolar.</a:t>
            </a:r>
          </a:p>
          <a:p>
            <a:pPr algn="just">
              <a:lnSpc>
                <a:spcPct val="150000"/>
              </a:lnSpc>
            </a:pPr>
            <a:r>
              <a:rPr lang="pt-BR" sz="3200" dirty="0"/>
              <a:t>	Soluções já consolidadas, como Google Classroom e Moodle, cobrem parcialmente a organização de atividades, mas concentram-se pouco na comunicação institucional em tempo real e não oferecem apoio personalizado ao estudo.</a:t>
            </a:r>
          </a:p>
          <a:p>
            <a:pPr algn="just">
              <a:lnSpc>
                <a:spcPct val="150000"/>
              </a:lnSpc>
            </a:pPr>
            <a:r>
              <a:rPr lang="pt-BR" sz="3200" dirty="0"/>
              <a:t>	O objetivo deste trabalho é apresentar o desenvolvimento do Ecossistema Escolar, uma plataforma digital que integra gestão acadêmica, comunicação institucional em tempo real e recursos de inteligência artificial generativa para apoio ao estudo.</a:t>
            </a:r>
          </a:p>
        </p:txBody>
      </p:sp>
      <p:sp>
        <p:nvSpPr>
          <p:cNvPr id="2055" name="Text Box 7"/>
          <p:cNvSpPr txBox="1">
            <a:spLocks noChangeArrowheads="1"/>
          </p:cNvSpPr>
          <p:nvPr/>
        </p:nvSpPr>
        <p:spPr bwMode="auto">
          <a:xfrm>
            <a:off x="920070" y="7079011"/>
            <a:ext cx="14559135" cy="808038"/>
          </a:xfrm>
          <a:prstGeom prst="rect">
            <a:avLst/>
          </a:prstGeom>
          <a:gradFill rotWithShape="1">
            <a:gsLst>
              <a:gs pos="0">
                <a:schemeClr val="tx2">
                  <a:lumMod val="60000"/>
                  <a:lumOff val="40000"/>
                </a:schemeClr>
              </a:gs>
              <a:gs pos="100000">
                <a:srgbClr val="FFEBCD">
                  <a:alpha val="0"/>
                </a:srgbClr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square" lIns="91415" tIns="45705" rIns="91415" bIns="45705">
            <a:spAutoFit/>
          </a:bodyPr>
          <a:lstStyle/>
          <a:p>
            <a:pPr defTabSz="4317365">
              <a:defRPr/>
            </a:pPr>
            <a:r>
              <a:rPr lang="pt-BR" sz="4700" b="1" dirty="0">
                <a:effectLst>
                  <a:outerShdw blurRad="38100" dist="38100" dir="2700000" algn="tl">
                    <a:srgbClr val="FFFFFF"/>
                  </a:outerShdw>
                </a:effectLst>
                <a:cs typeface="Times New Roman" panose="02020603050405020304" pitchFamily="18" charset="0"/>
              </a:rPr>
              <a:t>INTRODUÇÃO</a:t>
            </a:r>
          </a:p>
        </p:txBody>
      </p:sp>
      <p:sp>
        <p:nvSpPr>
          <p:cNvPr id="2056" name="Text Box 8"/>
          <p:cNvSpPr txBox="1">
            <a:spLocks noChangeArrowheads="1"/>
          </p:cNvSpPr>
          <p:nvPr/>
        </p:nvSpPr>
        <p:spPr bwMode="auto">
          <a:xfrm>
            <a:off x="936280" y="19755538"/>
            <a:ext cx="14608432" cy="808037"/>
          </a:xfrm>
          <a:prstGeom prst="rect">
            <a:avLst/>
          </a:prstGeom>
          <a:gradFill rotWithShape="1">
            <a:gsLst>
              <a:gs pos="0">
                <a:schemeClr val="tx2">
                  <a:lumMod val="60000"/>
                  <a:lumOff val="40000"/>
                </a:schemeClr>
              </a:gs>
              <a:gs pos="100000">
                <a:srgbClr val="FFEBCD">
                  <a:alpha val="0"/>
                </a:srgbClr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square" lIns="91415" tIns="45705" rIns="91415" bIns="45705">
            <a:spAutoFit/>
          </a:bodyPr>
          <a:lstStyle/>
          <a:p>
            <a:pPr defTabSz="4317365">
              <a:defRPr/>
            </a:pPr>
            <a:r>
              <a:rPr lang="pt-BR" sz="4700" b="1" dirty="0">
                <a:effectLst>
                  <a:outerShdw blurRad="38100" dist="38100" dir="2700000" algn="tl">
                    <a:srgbClr val="FFFFFF"/>
                  </a:outerShdw>
                </a:effectLst>
                <a:cs typeface="Times New Roman" panose="02020603050405020304" pitchFamily="18" charset="0"/>
              </a:rPr>
              <a:t>METODOLOGIA</a:t>
            </a:r>
          </a:p>
        </p:txBody>
      </p:sp>
      <p:sp>
        <p:nvSpPr>
          <p:cNvPr id="2059" name="Text Box 11"/>
          <p:cNvSpPr txBox="1">
            <a:spLocks noChangeArrowheads="1"/>
          </p:cNvSpPr>
          <p:nvPr/>
        </p:nvSpPr>
        <p:spPr bwMode="auto">
          <a:xfrm>
            <a:off x="936280" y="28042501"/>
            <a:ext cx="14567574" cy="808038"/>
          </a:xfrm>
          <a:prstGeom prst="rect">
            <a:avLst/>
          </a:prstGeom>
          <a:gradFill rotWithShape="1">
            <a:gsLst>
              <a:gs pos="0">
                <a:schemeClr val="tx2">
                  <a:lumMod val="60000"/>
                  <a:lumOff val="40000"/>
                </a:schemeClr>
              </a:gs>
              <a:gs pos="100000">
                <a:srgbClr val="FFEBCD">
                  <a:alpha val="0"/>
                </a:srgbClr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square" lIns="91415" tIns="45705" rIns="91415" bIns="45705">
            <a:spAutoFit/>
          </a:bodyPr>
          <a:lstStyle/>
          <a:p>
            <a:pPr defTabSz="4317365">
              <a:defRPr/>
            </a:pPr>
            <a:r>
              <a:rPr lang="pt-BR" sz="4700" b="1" dirty="0">
                <a:effectLst>
                  <a:outerShdw blurRad="38100" dist="38100" dir="2700000" algn="tl">
                    <a:srgbClr val="FFFFFF"/>
                  </a:outerShdw>
                </a:effectLst>
                <a:cs typeface="Times New Roman" panose="02020603050405020304" pitchFamily="18" charset="0"/>
              </a:rPr>
              <a:t>RESULTADOS</a:t>
            </a:r>
          </a:p>
        </p:txBody>
      </p:sp>
      <p:sp>
        <p:nvSpPr>
          <p:cNvPr id="2186" name="Text Box 138"/>
          <p:cNvSpPr txBox="1">
            <a:spLocks noChangeArrowheads="1"/>
          </p:cNvSpPr>
          <p:nvPr/>
        </p:nvSpPr>
        <p:spPr bwMode="auto">
          <a:xfrm>
            <a:off x="16719738" y="24074579"/>
            <a:ext cx="14693210" cy="808037"/>
          </a:xfrm>
          <a:prstGeom prst="rect">
            <a:avLst/>
          </a:prstGeom>
          <a:gradFill rotWithShape="1">
            <a:gsLst>
              <a:gs pos="0">
                <a:schemeClr val="tx2">
                  <a:lumMod val="60000"/>
                  <a:lumOff val="40000"/>
                </a:schemeClr>
              </a:gs>
              <a:gs pos="100000">
                <a:srgbClr val="FFEBCD">
                  <a:alpha val="0"/>
                </a:srgbClr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square" lIns="91415" tIns="45705" rIns="91415" bIns="45705">
            <a:spAutoFit/>
          </a:bodyPr>
          <a:lstStyle/>
          <a:p>
            <a:pPr defTabSz="4317365">
              <a:defRPr/>
            </a:pPr>
            <a:r>
              <a:rPr lang="pt-BR" sz="4700" b="1" dirty="0">
                <a:effectLst>
                  <a:outerShdw blurRad="38100" dist="38100" dir="2700000" algn="tl">
                    <a:srgbClr val="FFFFFF"/>
                  </a:outerShdw>
                </a:effectLst>
                <a:cs typeface="Times New Roman" panose="02020603050405020304" pitchFamily="18" charset="0"/>
              </a:rPr>
              <a:t>CONCLUSÕES</a:t>
            </a:r>
          </a:p>
        </p:txBody>
      </p:sp>
      <p:sp>
        <p:nvSpPr>
          <p:cNvPr id="4" name="Text Box 139"/>
          <p:cNvSpPr txBox="1">
            <a:spLocks noChangeArrowheads="1"/>
          </p:cNvSpPr>
          <p:nvPr/>
        </p:nvSpPr>
        <p:spPr bwMode="auto">
          <a:xfrm>
            <a:off x="16693615" y="24921649"/>
            <a:ext cx="14693211" cy="369437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15" tIns="45705" rIns="91415" bIns="45705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/>
              <a:t>	O sistema desenvolvido atende ao problema de fragmentação identificado, integrando organização acadêmica, comunicação escolar e apoio aos estudos em um único ambiente digital. Como trabalhos futuros, recomenda-se a ampliação dos recursos de inteligência artificial e a realização de testes formais de desempenho e usabilidade com os usuários finais.</a:t>
            </a:r>
          </a:p>
        </p:txBody>
      </p:sp>
      <p:sp>
        <p:nvSpPr>
          <p:cNvPr id="5" name="Rectangle 21"/>
          <p:cNvSpPr>
            <a:spLocks noChangeArrowheads="1"/>
          </p:cNvSpPr>
          <p:nvPr/>
        </p:nvSpPr>
        <p:spPr bwMode="auto">
          <a:xfrm>
            <a:off x="0" y="-700088"/>
            <a:ext cx="184150" cy="140017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1424" tIns="45710" rIns="91424" bIns="45710" anchor="ctr">
            <a:spAutoFit/>
          </a:bodyPr>
          <a:lstStyle/>
          <a:p>
            <a:endParaRPr lang="pt-BR" altLang="pt-BR" sz="8500"/>
          </a:p>
        </p:txBody>
      </p:sp>
      <p:sp>
        <p:nvSpPr>
          <p:cNvPr id="2057" name="Rectangle 23"/>
          <p:cNvSpPr>
            <a:spLocks noChangeArrowheads="1"/>
          </p:cNvSpPr>
          <p:nvPr/>
        </p:nvSpPr>
        <p:spPr bwMode="auto">
          <a:xfrm>
            <a:off x="0" y="-700088"/>
            <a:ext cx="184150" cy="140017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1424" tIns="45710" rIns="91424" bIns="45710" anchor="ctr">
            <a:spAutoFit/>
          </a:bodyPr>
          <a:lstStyle/>
          <a:p>
            <a:endParaRPr lang="pt-BR" altLang="pt-BR" sz="8500"/>
          </a:p>
        </p:txBody>
      </p:sp>
      <p:sp>
        <p:nvSpPr>
          <p:cNvPr id="2058" name="Rectangle 25"/>
          <p:cNvSpPr>
            <a:spLocks noChangeArrowheads="1"/>
          </p:cNvSpPr>
          <p:nvPr/>
        </p:nvSpPr>
        <p:spPr bwMode="auto">
          <a:xfrm>
            <a:off x="0" y="-700088"/>
            <a:ext cx="184150" cy="140017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1424" tIns="45710" rIns="91424" bIns="45710" anchor="ctr">
            <a:spAutoFit/>
          </a:bodyPr>
          <a:lstStyle/>
          <a:p>
            <a:endParaRPr lang="pt-BR" altLang="pt-BR" sz="8500"/>
          </a:p>
        </p:txBody>
      </p:sp>
      <p:sp>
        <p:nvSpPr>
          <p:cNvPr id="6" name="Rectangle 19"/>
          <p:cNvSpPr>
            <a:spLocks noChangeArrowheads="1"/>
          </p:cNvSpPr>
          <p:nvPr/>
        </p:nvSpPr>
        <p:spPr bwMode="auto">
          <a:xfrm>
            <a:off x="0" y="-700088"/>
            <a:ext cx="184150" cy="140017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1424" tIns="45710" rIns="91424" bIns="45710" anchor="ctr">
            <a:spAutoFit/>
          </a:bodyPr>
          <a:lstStyle/>
          <a:p>
            <a:endParaRPr lang="pt-BR" altLang="pt-BR" sz="8500"/>
          </a:p>
        </p:txBody>
      </p:sp>
      <p:sp>
        <p:nvSpPr>
          <p:cNvPr id="2060" name="CaixaDeTexto 26"/>
          <p:cNvSpPr txBox="1">
            <a:spLocks noChangeArrowheads="1"/>
          </p:cNvSpPr>
          <p:nvPr/>
        </p:nvSpPr>
        <p:spPr bwMode="auto">
          <a:xfrm>
            <a:off x="895422" y="20473886"/>
            <a:ext cx="14719103" cy="738770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24" tIns="45710" rIns="91424" bIns="4571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/>
              <a:t>	O sistema foi desenvolvido em TypeScript, com back-end em Node.js seguindo o padrão MVC, e banco de dados relacional MySQL. A comunicação em tempo real utiliza WebSocket, e o envio de avisos é feito via Evolution API, integrada ao WhatsApp.</a:t>
            </a:r>
          </a:p>
          <a:p>
            <a:pPr algn="just">
              <a:lnSpc>
                <a:spcPct val="150000"/>
              </a:lnSpc>
            </a:pPr>
            <a:r>
              <a:rPr lang="pt-BR" sz="3200" dirty="0"/>
              <a:t>	A segurança e a proteção de dados pessoais foram tratadas como parte da arquitetura: autenticação por JWT, senhas em hash (bcrypt), identificadores não sensíveis (GUID) em vez de CPF, e acesso escopado por escola e função, em diálogo com a LGPD (Lei nº 13.709/2018).</a:t>
            </a:r>
          </a:p>
        </p:txBody>
      </p:sp>
      <p:sp>
        <p:nvSpPr>
          <p:cNvPr id="2064" name="Text Box 5"/>
          <p:cNvSpPr txBox="1">
            <a:spLocks noChangeArrowheads="1"/>
          </p:cNvSpPr>
          <p:nvPr/>
        </p:nvSpPr>
        <p:spPr bwMode="auto">
          <a:xfrm>
            <a:off x="1657178" y="4769053"/>
            <a:ext cx="29451272" cy="1936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15" tIns="45705" rIns="91415" bIns="45705">
            <a:spAutoFit/>
          </a:bodyPr>
          <a:lstStyle/>
          <a:p>
            <a:pPr algn="ctr"/>
            <a:r>
              <a:rPr lang="pt-BR" sz="4000" b="1" i="1" dirty="0"/>
              <a:t>Eduardo Tagliamento Barbosa, Henrique Cruz Dallatorre, Vithor Maximus Borges Queiroz, Alberson Wander Sá dos Santos, Hélio Lourenço Esperidião Ferreira.</a:t>
            </a:r>
            <a:endParaRPr lang="pt-BR" sz="4000" dirty="0"/>
          </a:p>
          <a:p>
            <a:pPr algn="ctr"/>
            <a:r>
              <a:rPr lang="pt-BR" sz="4000" dirty="0"/>
              <a:t>  </a:t>
            </a:r>
          </a:p>
        </p:txBody>
      </p:sp>
      <p:sp>
        <p:nvSpPr>
          <p:cNvPr id="2065" name="Rectangle 29"/>
          <p:cNvSpPr>
            <a:spLocks noChangeArrowheads="1"/>
          </p:cNvSpPr>
          <p:nvPr/>
        </p:nvSpPr>
        <p:spPr bwMode="auto">
          <a:xfrm>
            <a:off x="0" y="6122160"/>
            <a:ext cx="32404050" cy="504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73209" tIns="36605" rIns="73209" bIns="36605">
            <a:spAutoFit/>
          </a:bodyPr>
          <a:lstStyle/>
          <a:p>
            <a:pPr algn="ctr" defTabSz="4318000"/>
            <a:r>
              <a:rPr lang="pt-BR" altLang="pt-BR" sz="2800" dirty="0"/>
              <a:t>Colégio Técnico Antônio Teixeira Fernandes, Fundação Valeparaibana de Ensino, Curso Técnico em Informática, Brasil, São José dos Campos, SP, 12245-020</a:t>
            </a:r>
          </a:p>
        </p:txBody>
      </p:sp>
      <p:sp>
        <p:nvSpPr>
          <p:cNvPr id="3" name="Text Box 138"/>
          <p:cNvSpPr txBox="1">
            <a:spLocks noChangeArrowheads="1"/>
          </p:cNvSpPr>
          <p:nvPr/>
        </p:nvSpPr>
        <p:spPr bwMode="auto">
          <a:xfrm>
            <a:off x="16719738" y="28933912"/>
            <a:ext cx="14693210" cy="808037"/>
          </a:xfrm>
          <a:prstGeom prst="rect">
            <a:avLst/>
          </a:prstGeom>
          <a:gradFill rotWithShape="1">
            <a:gsLst>
              <a:gs pos="0">
                <a:schemeClr val="tx2">
                  <a:lumMod val="60000"/>
                  <a:lumOff val="40000"/>
                </a:schemeClr>
              </a:gs>
              <a:gs pos="100000">
                <a:srgbClr val="FFEBCD">
                  <a:alpha val="0"/>
                </a:srgbClr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square" lIns="91415" tIns="45705" rIns="91415" bIns="45705">
            <a:spAutoFit/>
          </a:bodyPr>
          <a:lstStyle/>
          <a:p>
            <a:pPr defTabSz="4317365">
              <a:defRPr/>
            </a:pPr>
            <a:r>
              <a:rPr lang="pt-BR" sz="4700" b="1" dirty="0">
                <a:effectLst>
                  <a:outerShdw blurRad="38100" dist="38100" dir="2700000" algn="tl">
                    <a:srgbClr val="FFFFFF"/>
                  </a:outerShdw>
                </a:effectLst>
                <a:cs typeface="Times New Roman" panose="02020603050405020304" pitchFamily="18" charset="0"/>
              </a:rPr>
              <a:t>REFERÊNCIAS</a:t>
            </a:r>
          </a:p>
        </p:txBody>
      </p:sp>
      <p:sp>
        <p:nvSpPr>
          <p:cNvPr id="2068" name="Text Box 139"/>
          <p:cNvSpPr txBox="1">
            <a:spLocks noChangeArrowheads="1"/>
          </p:cNvSpPr>
          <p:nvPr/>
        </p:nvSpPr>
        <p:spPr bwMode="auto">
          <a:xfrm>
            <a:off x="16676111" y="29741949"/>
            <a:ext cx="14736838" cy="44330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15" tIns="45705" rIns="91415" bIns="45705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4000" dirty="0"/>
              <a:t>BRASIL. Lei nº 13.709, de 14 de agosto de 2018. Lei Geral de Proteção de Dados Pessoais (LGPD). Diário Oficial da União: seção 1, Brasília, DF, 15 ago. 2018.</a:t>
            </a:r>
          </a:p>
          <a:p>
            <a:pPr algn="just">
              <a:lnSpc>
                <a:spcPct val="150000"/>
              </a:lnSpc>
            </a:pPr>
            <a:r>
              <a:rPr lang="pt-BR" sz="4000" dirty="0"/>
              <a:t>G1. Censo Escolar registra aumento na evasão escolar do Ensino Médio. Jornal Nacional, 22 fev. 2024.</a:t>
            </a:r>
          </a:p>
          <a:p>
            <a:pPr algn="just">
              <a:lnSpc>
                <a:spcPct val="150000"/>
              </a:lnSpc>
            </a:pPr>
            <a:r>
              <a:rPr lang="pt-BR" sz="4000" dirty="0"/>
              <a:t>MORAIS, Marcio. Diferenças entre IA Tradicional e IA Generativa (Preditiva). [20--].</a:t>
            </a:r>
          </a:p>
        </p:txBody>
      </p:sp>
      <p:sp>
        <p:nvSpPr>
          <p:cNvPr id="2070" name="Rectangle 27"/>
          <p:cNvSpPr>
            <a:spLocks noChangeArrowheads="1"/>
          </p:cNvSpPr>
          <p:nvPr/>
        </p:nvSpPr>
        <p:spPr bwMode="auto">
          <a:xfrm>
            <a:off x="860741" y="28792559"/>
            <a:ext cx="14693211" cy="797138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15" tIns="45705" rIns="91415" bIns="45705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/>
              <a:t>	O desenvolvimento resultou em um sistema funcional que centraliza calendário acadêmico, tarefas, provas, comunicação entre usuários e recomendações de estudo geradas por inteligência artificial (Google Gemini), a partir de conteúdo real cadastrado pelos professores. A validação foi conduzida por meio de testes funcionais manuais e testes de endpoints via Postman, cobrindo os principais fluxos de uso de cada perfil (aluno, professor, coordenação, direção e secretaria).</a:t>
            </a:r>
          </a:p>
        </p:txBody>
      </p:sp>
      <p:sp>
        <p:nvSpPr>
          <p:cNvPr id="2071" name="Rectangle 38"/>
          <p:cNvSpPr>
            <a:spLocks noChangeArrowheads="1"/>
          </p:cNvSpPr>
          <p:nvPr/>
        </p:nvSpPr>
        <p:spPr bwMode="auto">
          <a:xfrm>
            <a:off x="0" y="0"/>
            <a:ext cx="324040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pt-BR" altLang="pt-BR" sz="8500"/>
          </a:p>
        </p:txBody>
      </p:sp>
      <p:sp>
        <p:nvSpPr>
          <p:cNvPr id="2072" name="Rectangle 41"/>
          <p:cNvSpPr>
            <a:spLocks noChangeArrowheads="1"/>
          </p:cNvSpPr>
          <p:nvPr/>
        </p:nvSpPr>
        <p:spPr bwMode="auto">
          <a:xfrm>
            <a:off x="0" y="0"/>
            <a:ext cx="324040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pt-BR" altLang="pt-BR" sz="8500"/>
          </a:p>
        </p:txBody>
      </p:sp>
      <p:sp>
        <p:nvSpPr>
          <p:cNvPr id="2073" name="Rectangle 44"/>
          <p:cNvSpPr>
            <a:spLocks noChangeArrowheads="1"/>
          </p:cNvSpPr>
          <p:nvPr/>
        </p:nvSpPr>
        <p:spPr bwMode="auto">
          <a:xfrm>
            <a:off x="0" y="0"/>
            <a:ext cx="324040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pt-BR" altLang="pt-BR" sz="8500"/>
          </a:p>
        </p:txBody>
      </p:sp>
      <p:sp>
        <p:nvSpPr>
          <p:cNvPr id="2074" name="Rectangle 47"/>
          <p:cNvSpPr>
            <a:spLocks noChangeArrowheads="1"/>
          </p:cNvSpPr>
          <p:nvPr/>
        </p:nvSpPr>
        <p:spPr bwMode="auto">
          <a:xfrm>
            <a:off x="0" y="0"/>
            <a:ext cx="324040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pt-BR" altLang="pt-BR" sz="8500"/>
          </a:p>
        </p:txBody>
      </p:sp>
      <p:sp>
        <p:nvSpPr>
          <p:cNvPr id="2075" name="Rectangle 50"/>
          <p:cNvSpPr>
            <a:spLocks noChangeArrowheads="1"/>
          </p:cNvSpPr>
          <p:nvPr/>
        </p:nvSpPr>
        <p:spPr bwMode="auto">
          <a:xfrm>
            <a:off x="0" y="0"/>
            <a:ext cx="324040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pt-BR" altLang="pt-BR" sz="8500"/>
          </a:p>
        </p:txBody>
      </p:sp>
      <p:pic>
        <p:nvPicPr>
          <p:cNvPr id="2130" name="Imagem 35" descr="LOGO FVE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94268" y="689066"/>
            <a:ext cx="6715125" cy="152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31" name="Imagem 36" descr="LOGO COLEGIOS.pn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172346" y="602250"/>
            <a:ext cx="3619500" cy="196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" name="Text Box 8"/>
          <p:cNvSpPr txBox="1">
            <a:spLocks noChangeArrowheads="1"/>
          </p:cNvSpPr>
          <p:nvPr/>
        </p:nvSpPr>
        <p:spPr bwMode="auto">
          <a:xfrm>
            <a:off x="16719738" y="16953143"/>
            <a:ext cx="14405977" cy="808037"/>
          </a:xfrm>
          <a:prstGeom prst="rect">
            <a:avLst/>
          </a:prstGeom>
          <a:gradFill rotWithShape="1">
            <a:gsLst>
              <a:gs pos="0">
                <a:schemeClr val="tx2">
                  <a:lumMod val="60000"/>
                  <a:lumOff val="40000"/>
                </a:schemeClr>
              </a:gs>
              <a:gs pos="100000">
                <a:srgbClr val="FFEBCD">
                  <a:alpha val="0"/>
                </a:srgbClr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square" lIns="91415" tIns="45705" rIns="91415" bIns="45705">
            <a:spAutoFit/>
          </a:bodyPr>
          <a:lstStyle/>
          <a:p>
            <a:pPr defTabSz="4317365">
              <a:defRPr/>
            </a:pPr>
            <a:r>
              <a:rPr lang="pt-BR" sz="4700" b="1" dirty="0">
                <a:effectLst>
                  <a:outerShdw blurRad="38100" dist="38100" dir="2700000" algn="tl">
                    <a:srgbClr val="FFFFFF"/>
                  </a:outerShdw>
                </a:effectLst>
                <a:cs typeface="Times New Roman" panose="02020603050405020304" pitchFamily="18" charset="0"/>
              </a:rPr>
              <a:t>DISCUSSÃO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9471" y="1118705"/>
            <a:ext cx="29162375" cy="7200900"/>
          </a:xfrm>
        </p:spPr>
        <p:txBody>
          <a:bodyPr>
            <a:noAutofit/>
          </a:bodyPr>
          <a:lstStyle/>
          <a:p>
            <a:r>
              <a:rPr lang="pt-BR" sz="6600" b="1" dirty="0"/>
              <a:t>ECOSSISTEMA ESCOLAR: DESENVOLVIMENTO DE UMA PLATAFORMA DIGITAL PARA GESTÃO E COMUNICAÇÃO ACADÊMICA</a:t>
            </a:r>
            <a:br>
              <a:rPr lang="pt-BR" sz="6600" dirty="0"/>
            </a:br>
            <a:r>
              <a:rPr lang="pt-BR" sz="6600" b="1" dirty="0"/>
              <a:t> </a:t>
            </a:r>
            <a:br>
              <a:rPr lang="pt-BR" sz="6600" dirty="0"/>
            </a:br>
            <a:endParaRPr lang="pt-BR" sz="6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4" name="Espaço Reservado para Conteúdo 2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84626286"/>
              </p:ext>
            </p:extLst>
          </p:nvPr>
        </p:nvGraphicFramePr>
        <p:xfrm>
          <a:off x="5743575" y="63507938"/>
          <a:ext cx="51401663" cy="1796430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A731F956-465F-09C1-4A34-67204C72A9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2" name="CaixaDeTexto 41"/>
          <p:cNvSpPr txBox="1"/>
          <p:nvPr/>
        </p:nvSpPr>
        <p:spPr>
          <a:xfrm>
            <a:off x="16624277" y="17761180"/>
            <a:ext cx="14919032" cy="14774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/>
              <a:t>	Em relação a soluções já consolidadas, como Google Classroom e Moodle, o Ecossistema Escolar se diferencia por centralizar comunicação instantânea, notificações via WhatsApp e apoio ao estudo por inteligência artificial em uma única plataforma.</a:t>
            </a:r>
          </a:p>
          <a:p>
            <a:pPr algn="just">
              <a:lnSpc>
                <a:spcPct val="150000"/>
              </a:lnSpc>
            </a:pPr>
            <a:r>
              <a:rPr lang="pt-BR" sz="3200" dirty="0"/>
              <a:t>	Embora ainda não possua o mesmo grau de maturidade dessas plataformas, o sistema demonstrou potencial para atender necessidades específicas de instituições que hoje dependem de ferramentas isoladas para comunicação e organização acadêmica.</a:t>
            </a:r>
          </a:p>
        </p:txBody>
      </p:sp>
      <p:sp>
        <p:nvSpPr>
          <p:cNvPr id="50" name="Rectangle 9"/>
          <p:cNvSpPr>
            <a:spLocks noChangeArrowheads="1"/>
          </p:cNvSpPr>
          <p:nvPr/>
        </p:nvSpPr>
        <p:spPr bwMode="auto">
          <a:xfrm>
            <a:off x="860741" y="40383330"/>
            <a:ext cx="148934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180975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Fonte: Autores (2026).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860741" y="33960000"/>
            <a:ext cx="5326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700" dirty="0"/>
              <a:t>Figura 1 - Recomendação de estudo por IA.</a:t>
            </a:r>
          </a:p>
        </p:txBody>
      </p:sp>
      <p:sp>
        <p:nvSpPr>
          <p:cNvPr id="10" name="CaixaDeTexto 15"/>
          <p:cNvSpPr txBox="1"/>
          <p:nvPr/>
        </p:nvSpPr>
        <p:spPr>
          <a:xfrm>
            <a:off x="6437245" y="33960000"/>
            <a:ext cx="93169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700" dirty="0"/>
              <a:t>Figura 3 - Arquitetura dos agentes de inteligência artificial.</a:t>
            </a:r>
          </a:p>
        </p:txBody>
      </p:sp>
      <p:sp>
        <p:nvSpPr>
          <p:cNvPr id="8" name="Caixa de Texto 7"/>
          <p:cNvSpPr txBox="1"/>
          <p:nvPr/>
        </p:nvSpPr>
        <p:spPr>
          <a:xfrm>
            <a:off x="19185571" y="7056611"/>
            <a:ext cx="1065718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sz="2700" dirty="0" err="1">
                <a:latin typeface="Arial" panose="020B0604020202020204"/>
                <a:ea typeface="Times New Roman" panose="02020603050405020304"/>
              </a:rPr>
              <a:t>Figura</a:t>
            </a:r>
            <a:r>
              <a:rPr sz="2700" dirty="0">
                <a:latin typeface="Arial" panose="020B0604020202020204"/>
                <a:ea typeface="Times New Roman" panose="02020603050405020304"/>
              </a:rPr>
              <a:t> 2 - </a:t>
            </a:r>
            <a:r>
              <a:rPr sz="2700" dirty="0" err="1">
                <a:latin typeface="Arial" panose="020B0604020202020204"/>
                <a:ea typeface="Times New Roman" panose="02020603050405020304"/>
              </a:rPr>
              <a:t>Arquitetura</a:t>
            </a:r>
            <a:r>
              <a:rPr sz="2700" dirty="0">
                <a:latin typeface="Arial" panose="020B0604020202020204"/>
                <a:ea typeface="Times New Roman" panose="02020603050405020304"/>
              </a:rPr>
              <a:t> do </a:t>
            </a:r>
            <a:r>
              <a:rPr sz="2700" dirty="0" err="1">
                <a:latin typeface="Arial" panose="020B0604020202020204"/>
                <a:ea typeface="Times New Roman" panose="02020603050405020304"/>
              </a:rPr>
              <a:t>servidor</a:t>
            </a:r>
            <a:r>
              <a:rPr sz="2700" dirty="0">
                <a:latin typeface="Arial" panose="020B0604020202020204"/>
                <a:ea typeface="Times New Roman" panose="02020603050405020304"/>
              </a:rPr>
              <a:t>: banco de dados (</a:t>
            </a:r>
            <a:r>
              <a:rPr sz="2700" dirty="0" err="1">
                <a:latin typeface="Arial" panose="020B0604020202020204"/>
                <a:ea typeface="Times New Roman" panose="02020603050405020304"/>
              </a:rPr>
              <a:t>tabelas</a:t>
            </a:r>
            <a:r>
              <a:rPr sz="2700" dirty="0">
                <a:latin typeface="Arial" panose="020B0604020202020204"/>
                <a:ea typeface="Times New Roman" panose="02020603050405020304"/>
              </a:rPr>
              <a:t> de </a:t>
            </a:r>
            <a:r>
              <a:rPr sz="2700" dirty="0" err="1">
                <a:latin typeface="Arial" panose="020B0604020202020204"/>
                <a:ea typeface="Times New Roman" panose="02020603050405020304"/>
              </a:rPr>
              <a:t>escola</a:t>
            </a:r>
            <a:r>
              <a:rPr sz="2700" dirty="0">
                <a:latin typeface="Arial" panose="020B0604020202020204"/>
                <a:ea typeface="Times New Roman" panose="02020603050405020304"/>
              </a:rPr>
              <a:t>, </a:t>
            </a:r>
            <a:r>
              <a:rPr sz="2700" dirty="0" err="1">
                <a:latin typeface="Arial" panose="020B0604020202020204"/>
                <a:ea typeface="Times New Roman" panose="02020603050405020304"/>
              </a:rPr>
              <a:t>usuário</a:t>
            </a:r>
            <a:r>
              <a:rPr sz="2700" dirty="0">
                <a:latin typeface="Arial" panose="020B0604020202020204"/>
                <a:ea typeface="Times New Roman" panose="02020603050405020304"/>
              </a:rPr>
              <a:t> e </a:t>
            </a:r>
            <a:r>
              <a:rPr sz="2700" dirty="0" err="1">
                <a:latin typeface="Arial" panose="020B0604020202020204"/>
                <a:ea typeface="Times New Roman" panose="02020603050405020304"/>
              </a:rPr>
              <a:t>função</a:t>
            </a:r>
            <a:r>
              <a:rPr sz="2700" dirty="0">
                <a:latin typeface="Arial" panose="020B0604020202020204"/>
                <a:ea typeface="Times New Roman" panose="02020603050405020304"/>
              </a:rPr>
              <a:t>) e </a:t>
            </a:r>
            <a:r>
              <a:rPr sz="2700" dirty="0" err="1">
                <a:latin typeface="Arial" panose="020B0604020202020204"/>
                <a:ea typeface="Times New Roman" panose="02020603050405020304"/>
              </a:rPr>
              <a:t>autenticação</a:t>
            </a:r>
            <a:r>
              <a:rPr sz="2700" dirty="0">
                <a:latin typeface="Arial" panose="020B0604020202020204"/>
                <a:ea typeface="Times New Roman" panose="02020603050405020304"/>
              </a:rPr>
              <a:t>.</a:t>
            </a: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14783471" y="16332442"/>
            <a:ext cx="174602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180975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Fonte: Autores (2026).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188" name="Picture 2187" descr="banner_fig_arquitetu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64163" y="8050000"/>
            <a:ext cx="14900000" cy="8132442"/>
          </a:xfrm>
          <a:prstGeom prst="rect">
            <a:avLst/>
          </a:prstGeom>
        </p:spPr>
      </p:pic>
      <p:pic>
        <p:nvPicPr>
          <p:cNvPr id="2189" name="Picture 218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741" y="35033330"/>
            <a:ext cx="5326504" cy="5200000"/>
          </a:xfrm>
          <a:prstGeom prst="rect">
            <a:avLst/>
          </a:prstGeom>
        </p:spPr>
      </p:pic>
      <p:pic>
        <p:nvPicPr>
          <p:cNvPr id="2190" name="Picture 2189" descr="banner_fig_agentesI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7245" y="35033330"/>
            <a:ext cx="9316909" cy="52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629</Words>
  <Application>Microsoft Office PowerPoint</Application>
  <PresentationFormat>Personalizar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Tema do Office</vt:lpstr>
      <vt:lpstr>ECOSSISTEMA ESCOLAR: DESENVOLVIMENTO DE UMA PLATAFORMA DIGITAL PARA GESTÃO E COMUNICAÇÃO ACADÊMICA  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bb</dc:creator>
  <cp:lastModifiedBy>PAULO RODOLFO BARBOSA</cp:lastModifiedBy>
  <cp:revision>160</cp:revision>
  <dcterms:created xsi:type="dcterms:W3CDTF">2006-10-17T17:23:00Z</dcterms:created>
  <dcterms:modified xsi:type="dcterms:W3CDTF">2026-09-15T13:28:58Z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39ED26A13F3342959E540CC92CC3BD6D_13</vt:lpwstr>
  </property>
  <property fmtid="{D5CDD505-2E9C-101B-9397-08002B2CF9AE}" pid="3" name="KSOProductBuildVer">
    <vt:lpwstr>1046-12.2.0.22549</vt:lpwstr>
  </property>
</Properties>
</file>