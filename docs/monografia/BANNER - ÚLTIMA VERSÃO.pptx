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3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32404050" cy="43205400"/>
  <p:notesSz cx="6858000" cy="9710738"/>
  <p:defaultTextStyle>
    <a:defPPr>
      <a:defRPr lang="pt-BR"/>
    </a:defPPr>
    <a:lvl1pPr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59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31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03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7530" indent="1905" algn="l" rtl="0" fontAlgn="base">
      <a:spcBef>
        <a:spcPct val="0"/>
      </a:spcBef>
      <a:spcAft>
        <a:spcPct val="0"/>
      </a:spcAft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sz="810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608" userDrawn="1">
          <p15:clr>
            <a:srgbClr val="A4A3A4"/>
          </p15:clr>
        </p15:guide>
        <p15:guide id="2" pos="102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00"/>
    <a:srgbClr val="CB4040"/>
    <a:srgbClr val="CD4141"/>
    <a:srgbClr val="C84646"/>
    <a:srgbClr val="008080"/>
    <a:srgbClr val="619A36"/>
    <a:srgbClr val="FF0000"/>
    <a:srgbClr val="006C00"/>
    <a:srgbClr val="C1F4A8"/>
    <a:srgbClr val="FFEB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6765" autoAdjust="0"/>
    <p:restoredTop sz="96595" autoAdjust="0"/>
  </p:normalViewPr>
  <p:slideViewPr>
    <p:cSldViewPr showGuides="1">
      <p:cViewPr>
        <p:scale>
          <a:sx n="31" d="100"/>
          <a:sy n="31" d="100"/>
        </p:scale>
        <p:origin x="-77" y="-6758"/>
      </p:cViewPr>
      <p:guideLst>
        <p:guide orient="horz" pos="13608"/>
        <p:guide pos="1020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</c:spPr>
    </c:floor>
    <c:sideWall>
      <c:thickness val="0"/>
      <c:spPr>
        <a:noFill/>
        <a:ln>
          <a:noFill/>
        </a:ln>
        <a:effectLst/>
      </c:spPr>
    </c:sideWall>
    <c:backWall>
      <c:thickness val="0"/>
      <c:spPr>
        <a:noFill/>
        <a:ln>
          <a:noFill/>
        </a:ln>
        <a:effectLst/>
      </c:spPr>
    </c:backWall>
    <c:plotArea>
      <c:layout>
        <c:manualLayout>
          <c:layoutTarget val="inner"/>
          <c:xMode val="edge"/>
          <c:yMode val="edge"/>
          <c:x val="0"/>
          <c:y val="0.185000759911258"/>
          <c:w val="0.72722358209593196"/>
          <c:h val="0.65381744940763398"/>
        </c:manualLayout>
      </c:layout>
      <c:pie3DChart>
        <c:varyColors val="1"/>
        <c:dLbls>
          <c:showLegendKey val="0"/>
          <c:showVal val="1"/>
          <c:showCatName val="0"/>
          <c:showSerName val="0"/>
          <c:showPercent val="0"/>
          <c:showBubbleSize val="0"/>
          <c:showLeaderLines val="0"/>
        </c:dLbls>
      </c:pie3DChart>
      <c:spPr>
        <a:noFill/>
        <a:ln>
          <a:noFill/>
        </a:ln>
        <a:effectLst/>
      </c:spPr>
    </c:plotArea>
    <c:plotVisOnly val="1"/>
    <c:dispBlanksAs val="zero"/>
    <c:showDLblsOverMax val="0"/>
    <c:extLst>
      <c:ext uri="{0b15fc19-7d7d-44ad-8c2d-2c3a37ce22c3}">
        <chartProps xmlns="https://web.wps.cn/et/2018/main" chartId="{febf08c3-dec5-481d-a904-e5686aa9ebce}"/>
      </c:ext>
    </c:extLst>
  </c:chart>
  <c:spPr>
    <a:noFill/>
    <a:ln>
      <a:noFill/>
    </a:ln>
    <a:effectLst/>
  </c:spPr>
  <c:txPr>
    <a:bodyPr/>
    <a:lstStyle/>
    <a:p>
      <a:pPr>
        <a:defRPr lang="pt-BR" sz="300"/>
      </a:pPr>
      <a:endParaRPr lang="pt-BR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1.3275417272198917E-2"/>
          <c:y val="2.540469576739832E-2"/>
          <c:w val="0.75911075909104742"/>
          <c:h val="0.86491833603351687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Vendas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9216-442E-BA8C-EE064978627B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9216-442E-BA8C-EE064978627B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9216-442E-BA8C-EE064978627B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9216-442E-BA8C-EE064978627B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3200" dirty="0"/>
                      <a:t>97%</a:t>
                    </a:r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6-442E-BA8C-EE064978627B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3200" dirty="0"/>
                      <a:t>3%</a:t>
                    </a:r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9216-442E-BA8C-EE064978627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lang="pt-BR" sz="1195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Planilha1!$A$2:$A$5</c:f>
              <c:strCache>
                <c:ptCount val="4"/>
                <c:pt idx="0">
                  <c:v>Sim</c:v>
                </c:pt>
                <c:pt idx="3">
                  <c:v>Não</c:v>
                </c:pt>
              </c:strCache>
            </c:strRef>
          </c:cat>
          <c:val>
            <c:numRef>
              <c:f>Planilha1!$B$2:$B$5</c:f>
              <c:numCache>
                <c:formatCode>General</c:formatCode>
                <c:ptCount val="4"/>
                <c:pt idx="0">
                  <c:v>8.1999999999999993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216-442E-BA8C-EE064978627B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pt-BR" sz="3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1"/>
        <c:delete val="1"/>
      </c:legendEntry>
      <c:legendEntry>
        <c:idx val="2"/>
        <c:delete val="1"/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lang="pt-BR" sz="3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pt-BR" sz="32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19a84880-2371-495d-997a-f6ee6fbee204}"/>
      </c:ext>
    </c:extLst>
  </c:chart>
  <c:spPr>
    <a:noFill/>
    <a:ln>
      <a:noFill/>
    </a:ln>
    <a:effectLst/>
  </c:spPr>
  <c:txPr>
    <a:bodyPr/>
    <a:lstStyle/>
    <a:p>
      <a:pPr>
        <a:defRPr lang="pt-BR">
          <a:solidFill>
            <a:schemeClr val="bg1"/>
          </a:solidFill>
        </a:defRPr>
      </a:pPr>
      <a:endParaRPr lang="pt-BR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pt-B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7.6136456513393918E-3"/>
          <c:y val="0.122026281140832"/>
          <c:w val="0.65017046772763454"/>
          <c:h val="0.80296190357494102"/>
        </c:manualLayout>
      </c:layout>
      <c:pieChart>
        <c:varyColors val="1"/>
        <c:ser>
          <c:idx val="0"/>
          <c:order val="0"/>
          <c:tx>
            <c:strRef>
              <c:f>Planilha1!$B$1</c:f>
              <c:strCache>
                <c:ptCount val="1"/>
                <c:pt idx="0">
                  <c:v>Coluna1</c:v>
                </c:pt>
              </c:strCache>
            </c:strRef>
          </c:tx>
          <c:dPt>
            <c:idx val="0"/>
            <c:bubble3D val="0"/>
            <c:spPr>
              <a:solidFill>
                <a:schemeClr val="accent2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1-7E14-4082-A31B-05553B010D58}"/>
              </c:ext>
            </c:extLst>
          </c:dPt>
          <c:dPt>
            <c:idx val="1"/>
            <c:bubble3D val="0"/>
            <c:spPr>
              <a:solidFill>
                <a:schemeClr val="accent4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3-7E14-4082-A31B-05553B010D58}"/>
              </c:ext>
            </c:extLst>
          </c:dPt>
          <c:dPt>
            <c:idx val="2"/>
            <c:bubble3D val="0"/>
            <c:spPr>
              <a:solidFill>
                <a:schemeClr val="accent6"/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5-7E14-4082-A31B-05553B010D58}"/>
              </c:ext>
            </c:extLst>
          </c:dPt>
          <c:dPt>
            <c:idx val="3"/>
            <c:bubble3D val="0"/>
            <c:spPr>
              <a:solidFill>
                <a:schemeClr val="accent2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7-7E14-4082-A31B-05553B010D58}"/>
              </c:ext>
            </c:extLst>
          </c:dPt>
          <c:dPt>
            <c:idx val="4"/>
            <c:bubble3D val="0"/>
            <c:spPr>
              <a:solidFill>
                <a:schemeClr val="accent4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9-7E14-4082-A31B-05553B010D58}"/>
              </c:ext>
            </c:extLst>
          </c:dPt>
          <c:dPt>
            <c:idx val="5"/>
            <c:bubble3D val="0"/>
            <c:spPr>
              <a:solidFill>
                <a:schemeClr val="accent6">
                  <a:lumMod val="6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B-7E14-4082-A31B-05553B010D58}"/>
              </c:ext>
            </c:extLst>
          </c:dPt>
          <c:dPt>
            <c:idx val="6"/>
            <c:bubble3D val="0"/>
            <c:spPr>
              <a:solidFill>
                <a:schemeClr val="accent2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D-7E14-4082-A31B-05553B010D58}"/>
              </c:ext>
            </c:extLst>
          </c:dPt>
          <c:dPt>
            <c:idx val="7"/>
            <c:bubble3D val="0"/>
            <c:spPr>
              <a:solidFill>
                <a:schemeClr val="accent4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0F-7E14-4082-A31B-05553B010D58}"/>
              </c:ext>
            </c:extLst>
          </c:dPt>
          <c:dPt>
            <c:idx val="8"/>
            <c:bubble3D val="0"/>
            <c:spPr>
              <a:solidFill>
                <a:schemeClr val="accent6">
                  <a:lumMod val="80000"/>
                  <a:lumOff val="20000"/>
                </a:schemeClr>
              </a:solidFill>
              <a:ln>
                <a:noFill/>
              </a:ln>
              <a:effectLst/>
              <a:scene3d>
                <a:camera prst="orthographicFront"/>
                <a:lightRig rig="brightRoom" dir="t"/>
              </a:scene3d>
              <a:sp3d prstMaterial="flat">
                <a:bevelT w="50800" h="101600" prst="angle"/>
                <a:contourClr>
                  <a:srgbClr val="000000"/>
                </a:contourClr>
              </a:sp3d>
            </c:spPr>
            <c:extLst>
              <c:ext xmlns:c16="http://schemas.microsoft.com/office/drawing/2014/chart" uri="{C3380CC4-5D6E-409C-BE32-E72D297353CC}">
                <c16:uniqueId val="{00000011-7E14-4082-A31B-05553B010D58}"/>
              </c:ext>
            </c:extLst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lang="en-US"/>
                      <a:t>3%</a:t>
                    </a:r>
                    <a:endParaRPr lang="en-US" sz="1260" baseline="0"/>
                  </a:p>
                </c:rich>
              </c:tx>
              <c:dLblPos val="inEnd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7E14-4082-A31B-05553B010D58}"/>
                </c:ext>
              </c:extLst>
            </c:dLbl>
            <c:dLbl>
              <c:idx val="5"/>
              <c:layout>
                <c:manualLayout>
                  <c:x val="6.1451212817782278E-2"/>
                  <c:y val="0.15817697876703959"/>
                </c:manualLayout>
              </c:layout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E14-4082-A31B-05553B010D58}"/>
                </c:ext>
              </c:extLst>
            </c:dLbl>
            <c:dLbl>
              <c:idx val="7"/>
              <c:layout>
                <c:manualLayout>
                  <c:x val="6.5740133284760537E-3"/>
                  <c:y val="2.8230446784330034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pt-BR" sz="32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E14-4082-A31B-05553B010D58}"/>
                </c:ext>
              </c:extLst>
            </c:dLbl>
            <c:dLbl>
              <c:idx val="8"/>
              <c:layout>
                <c:manualLayout>
                  <c:x val="2.2517706721969843E-2"/>
                  <c:y val="2.3178194229698992E-2"/>
                </c:manualLayout>
              </c:layout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lang="pt-BR" sz="3200" b="0" i="0" u="none" strike="noStrike" kern="1200" baseline="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pt-BR"/>
                </a:p>
              </c:txPr>
              <c:dLblPos val="bestFit"/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E14-4082-A31B-05553B010D5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lang="pt-BR" sz="3200" b="0" i="0" u="none" strike="noStrike" kern="1200" baseline="0">
                    <a:solidFill>
                      <a:schemeClr val="bg1"/>
                    </a:solidFill>
                    <a:latin typeface="+mn-lt"/>
                    <a:ea typeface="+mn-ea"/>
                    <a:cs typeface="+mn-cs"/>
                  </a:defRPr>
                </a:pPr>
                <a:endParaRPr lang="pt-BR"/>
              </a:p>
            </c:txPr>
            <c:dLblPos val="inEnd"/>
            <c:showLegendKey val="0"/>
            <c:showVal val="0"/>
            <c:showCatName val="0"/>
            <c:showSerName val="0"/>
            <c:showPercent val="1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Planilha1!$A$2:$A$10</c:f>
              <c:strCache>
                <c:ptCount val="9"/>
                <c:pt idx="0">
                  <c:v>Nostalgia </c:v>
                </c:pt>
                <c:pt idx="1">
                  <c:v>Por ser consumidor da marca </c:v>
                </c:pt>
                <c:pt idx="2">
                  <c:v>Ainda não consumi</c:v>
                </c:pt>
                <c:pt idx="3">
                  <c:v>Apenas por curiosidade </c:v>
                </c:pt>
                <c:pt idx="4">
                  <c:v>Para conhecer as marcas </c:v>
                </c:pt>
                <c:pt idx="5">
                  <c:v>Não consome</c:v>
                </c:pt>
                <c:pt idx="6">
                  <c:v>Pela experiência </c:v>
                </c:pt>
                <c:pt idx="7">
                  <c:v>Vendas</c:v>
                </c:pt>
                <c:pt idx="8">
                  <c:v>Exclusividade </c:v>
                </c:pt>
              </c:strCache>
            </c:strRef>
          </c:cat>
          <c:val>
            <c:numRef>
              <c:f>Planilha1!$B$2:$B$10</c:f>
              <c:numCache>
                <c:formatCode>0%</c:formatCode>
                <c:ptCount val="9"/>
                <c:pt idx="0">
                  <c:v>0.06</c:v>
                </c:pt>
                <c:pt idx="1">
                  <c:v>0.2</c:v>
                </c:pt>
                <c:pt idx="2">
                  <c:v>0.03</c:v>
                </c:pt>
                <c:pt idx="3">
                  <c:v>0.3</c:v>
                </c:pt>
                <c:pt idx="4">
                  <c:v>0.3</c:v>
                </c:pt>
                <c:pt idx="5">
                  <c:v>0.03</c:v>
                </c:pt>
                <c:pt idx="6">
                  <c:v>0.01</c:v>
                </c:pt>
                <c:pt idx="7">
                  <c:v>0.01</c:v>
                </c:pt>
                <c:pt idx="8">
                  <c:v>0.01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7E14-4082-A31B-05553B010D58}"/>
            </c:ext>
          </c:extLst>
        </c:ser>
        <c:dLbls>
          <c:showLegendKey val="0"/>
          <c:showVal val="0"/>
          <c:showCatName val="0"/>
          <c:showSerName val="0"/>
          <c:showPercent val="1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3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4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5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6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7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egendEntry>
        <c:idx val="8"/>
        <c:txPr>
          <a:bodyPr rot="0" spcFirstLastPara="1" vertOverflow="ellipsis" vert="horz" wrap="square" anchor="ctr" anchorCtr="1"/>
          <a:lstStyle/>
          <a:p>
            <a:pPr>
              <a:defRPr lang="pt-BR" sz="2400" b="0" i="0" u="none" strike="noStrike" kern="1000" cap="none" spc="0" normalizeH="0" baseline="0">
                <a:solidFill>
                  <a:schemeClr val="tx1">
                    <a:lumMod val="65000"/>
                    <a:lumOff val="35000"/>
                  </a:schemeClr>
                </a:solidFill>
                <a:uFill>
                  <a:solidFill>
                    <a:schemeClr val="tx1">
                      <a:lumMod val="65000"/>
                      <a:lumOff val="35000"/>
                    </a:schemeClr>
                  </a:solidFill>
                </a:uFill>
                <a:latin typeface="+mn-lt"/>
                <a:ea typeface="+mn-ea"/>
                <a:cs typeface="+mn-cs"/>
              </a:defRPr>
            </a:pPr>
            <a:endParaRPr lang="pt-BR"/>
          </a:p>
        </c:txPr>
      </c:legendEntry>
      <c:layout>
        <c:manualLayout>
          <c:xMode val="edge"/>
          <c:yMode val="edge"/>
          <c:x val="0.64722292774450429"/>
          <c:y val="0.10530534026167616"/>
          <c:w val="0.35277707225549559"/>
          <c:h val="0.8946946597383237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lang="pt-BR" sz="2400" b="0" i="0" u="none" strike="noStrike" kern="1000" cap="none" spc="0" normalizeH="0" baseline="0">
              <a:solidFill>
                <a:schemeClr val="tx1">
                  <a:lumMod val="65000"/>
                  <a:lumOff val="35000"/>
                </a:schemeClr>
              </a:solidFill>
              <a:uFill>
                <a:solidFill>
                  <a:schemeClr val="tx1">
                    <a:lumMod val="65000"/>
                    <a:lumOff val="35000"/>
                  </a:schemeClr>
                </a:solidFill>
              </a:uFill>
              <a:latin typeface="+mn-lt"/>
              <a:ea typeface="+mn-ea"/>
              <a:cs typeface="+mn-cs"/>
            </a:defRPr>
          </a:pPr>
          <a:endParaRPr lang="pt-BR"/>
        </a:p>
      </c:txPr>
    </c:legend>
    <c:plotVisOnly val="1"/>
    <c:dispBlanksAs val="gap"/>
    <c:showDLblsOverMax val="0"/>
    <c:extLst>
      <c:ext uri="{0b15fc19-7d7d-44ad-8c2d-2c3a37ce22c3}">
        <chartProps xmlns="https://web.wps.cn/et/2018/main" chartId="{7dd528ba-75ec-4894-b1e5-e06c79cc722f}"/>
      </c:ext>
    </c:extLst>
  </c:chart>
  <c:spPr>
    <a:noFill/>
    <a:ln>
      <a:noFill/>
    </a:ln>
    <a:effectLst/>
  </c:spPr>
  <c:txPr>
    <a:bodyPr/>
    <a:lstStyle/>
    <a:p>
      <a:pPr>
        <a:defRPr lang="pt-BR"/>
      </a:pPr>
      <a:endParaRPr lang="pt-B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5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8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chartArea>
  <cs:dataLabel>
    <cs:lnRef idx="0"/>
    <cs:fillRef idx="0"/>
    <cs:effectRef idx="0"/>
    <cs:fontRef idx="minor">
      <a:schemeClr val="lt1"/>
    </cs:fontRef>
    <cs:defRPr sz="1195" b="1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5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scene3d>
        <a:camera prst="orthographicFront"/>
        <a:lightRig rig="brightRoom" dir="t"/>
      </a:scene3d>
      <a:sp3d prstMaterial="flat">
        <a:bevelT w="50800" h="101600" prst="angle"/>
        <a:contourClr>
          <a:srgbClr val="000000"/>
        </a:contourClr>
      </a:sp3d>
    </cs:spPr>
  </cs:dataPoint>
  <cs:dataPoint3D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1905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5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0" b="1" i="0" kern="1200" cap="all" spc="5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5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39" name="Rectangle 1027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C4A5D341-4EBE-4A71-8129-9C53C0EA2457}" type="datetimeFigureOut">
              <a:rPr lang="pt-BR"/>
              <a:t>09/09/2026</a:t>
            </a:fld>
            <a:endParaRPr lang="pt-BR"/>
          </a:p>
        </p:txBody>
      </p:sp>
      <p:sp>
        <p:nvSpPr>
          <p:cNvPr id="3076" name="Rectangle 1028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085975" y="762000"/>
            <a:ext cx="2686050" cy="35814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</a:ln>
        </p:spPr>
      </p:sp>
      <p:sp>
        <p:nvSpPr>
          <p:cNvPr id="14341" name="Rectangle 1029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648200"/>
            <a:ext cx="5029200" cy="43434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pt-BR" noProof="0"/>
              <a:t>Clique para editar os estilos do texto mestre</a:t>
            </a:r>
          </a:p>
          <a:p>
            <a:pPr lvl="1"/>
            <a:r>
              <a:rPr lang="pt-BR" noProof="0"/>
              <a:t>Segundo nível</a:t>
            </a:r>
          </a:p>
          <a:p>
            <a:pPr lvl="2"/>
            <a:r>
              <a:rPr lang="pt-BR" noProof="0"/>
              <a:t>Terceiro nível</a:t>
            </a:r>
          </a:p>
          <a:p>
            <a:pPr lvl="3"/>
            <a:r>
              <a:rPr lang="pt-BR" noProof="0"/>
              <a:t>Quarto nível</a:t>
            </a:r>
          </a:p>
          <a:p>
            <a:pPr lvl="4"/>
            <a:r>
              <a:rPr lang="pt-BR" noProof="0"/>
              <a:t>Quinto nível</a:t>
            </a:r>
          </a:p>
        </p:txBody>
      </p:sp>
      <p:sp>
        <p:nvSpPr>
          <p:cNvPr id="14342" name="Rectangle 1030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/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4343" name="Rectangle 1031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9220200"/>
            <a:ext cx="2971800" cy="45720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/>
            </a:lvl1pPr>
          </a:lstStyle>
          <a:p>
            <a:pPr>
              <a:defRPr/>
            </a:pPr>
            <a:fld id="{1F1E8F8A-9447-4DD4-8418-04C6B534993D}" type="slidenum">
              <a:rPr lang="pt-BR"/>
              <a:t>‹nº›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1026"/>
          <p:cNvSpPr>
            <a:spLocks noGrp="1" noRot="1" noChangeAspect="1" noChangeArrowheads="1" noTextEdit="1"/>
          </p:cNvSpPr>
          <p:nvPr>
            <p:ph type="sldImg"/>
          </p:nvPr>
        </p:nvSpPr>
        <p:spPr/>
      </p:sp>
      <p:sp>
        <p:nvSpPr>
          <p:cNvPr id="4099" name="Rectangle 1027"/>
          <p:cNvSpPr>
            <a:spLocks noGrp="1" noChangeArrowheads="1"/>
          </p:cNvSpPr>
          <p:nvPr>
            <p:ph type="body" idx="1"/>
          </p:nvPr>
        </p:nvSpPr>
        <p:spPr>
          <a:noFill/>
        </p:spPr>
        <p:txBody>
          <a:bodyPr/>
          <a:lstStyle/>
          <a:p>
            <a:pPr eaLnBrk="1" hangingPunct="1"/>
            <a:endParaRPr lang="pt-BR" altLang="pt-BR" dirty="0">
              <a:latin typeface="Calibri" panose="020F0502020204030204" pitchFamily="34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 hasCustomPrompt="1"/>
          </p:nvPr>
        </p:nvSpPr>
        <p:spPr>
          <a:xfrm>
            <a:off x="2430304" y="13421680"/>
            <a:ext cx="27543443" cy="9261158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4860608" y="24483060"/>
            <a:ext cx="22682835" cy="1104138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21596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43199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64795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8639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FBEB365-19CE-49BC-A87B-5FAE5E1096C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F133578-FC4D-4DF7-9385-231932049281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492F7D1-0405-42EE-ACB5-97F5B85A7B86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5F217F-38D1-49F0-A4BD-4C67E474F56A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2559696" y="27763479"/>
            <a:ext cx="27543443" cy="8581073"/>
          </a:xfrm>
        </p:spPr>
        <p:txBody>
          <a:bodyPr anchor="t"/>
          <a:lstStyle>
            <a:lvl1pPr algn="l">
              <a:defRPr sz="189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2559696" y="18312295"/>
            <a:ext cx="27543443" cy="9451178"/>
          </a:xfrm>
        </p:spPr>
        <p:txBody>
          <a:bodyPr anchor="b"/>
          <a:lstStyle>
            <a:lvl1pPr marL="0" indent="0">
              <a:buNone/>
              <a:defRPr sz="9500">
                <a:solidFill>
                  <a:schemeClr val="tx1">
                    <a:tint val="75000"/>
                  </a:schemeClr>
                </a:solidFill>
              </a:defRPr>
            </a:lvl1pPr>
            <a:lvl2pPr marL="2159635" indent="0">
              <a:buNone/>
              <a:defRPr sz="8500">
                <a:solidFill>
                  <a:schemeClr val="tx1">
                    <a:tint val="75000"/>
                  </a:schemeClr>
                </a:solidFill>
              </a:defRPr>
            </a:lvl2pPr>
            <a:lvl3pPr marL="4319905" indent="0">
              <a:buNone/>
              <a:defRPr sz="7600">
                <a:solidFill>
                  <a:schemeClr val="tx1">
                    <a:tint val="75000"/>
                  </a:schemeClr>
                </a:solidFill>
              </a:defRPr>
            </a:lvl3pPr>
            <a:lvl4pPr marL="647954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863917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1079944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2959080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511871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7278985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B227FD-2D5D-4278-8F15-0E483FE2EC43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676C4D-C133-4E51-A632-28D13FBF31F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 hasCustomPrompt="1"/>
          </p:nvPr>
        </p:nvSpPr>
        <p:spPr>
          <a:xfrm>
            <a:off x="5743846" y="63507947"/>
            <a:ext cx="51402048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57685960" y="63507947"/>
            <a:ext cx="51402051" cy="179642453"/>
          </a:xfrm>
        </p:spPr>
        <p:txBody>
          <a:bodyPr/>
          <a:lstStyle>
            <a:lvl1pPr>
              <a:defRPr sz="13200"/>
            </a:lvl1pPr>
            <a:lvl2pPr>
              <a:defRPr sz="11300"/>
            </a:lvl2pPr>
            <a:lvl3pPr>
              <a:defRPr sz="9500"/>
            </a:lvl3pPr>
            <a:lvl4pPr>
              <a:defRPr sz="8500"/>
            </a:lvl4pPr>
            <a:lvl5pPr>
              <a:defRPr sz="8500"/>
            </a:lvl5pPr>
            <a:lvl6pPr>
              <a:defRPr sz="8500"/>
            </a:lvl6pPr>
            <a:lvl7pPr>
              <a:defRPr sz="8500"/>
            </a:lvl7pPr>
            <a:lvl8pPr>
              <a:defRPr sz="8500"/>
            </a:lvl8pPr>
            <a:lvl9pPr>
              <a:defRPr sz="8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52793D-877F-4D63-AA58-5607ED782E4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217B76-1F3E-499F-AB60-DDC0876F818F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3" y="1730219"/>
            <a:ext cx="29163645" cy="7200900"/>
          </a:xfrm>
        </p:spPr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 hasCustomPrompt="1"/>
          </p:nvPr>
        </p:nvSpPr>
        <p:spPr>
          <a:xfrm>
            <a:off x="1620203" y="9671212"/>
            <a:ext cx="14317416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 hasCustomPrompt="1"/>
          </p:nvPr>
        </p:nvSpPr>
        <p:spPr>
          <a:xfrm>
            <a:off x="1620203" y="13701713"/>
            <a:ext cx="14317416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 hasCustomPrompt="1"/>
          </p:nvPr>
        </p:nvSpPr>
        <p:spPr>
          <a:xfrm>
            <a:off x="16460809" y="9671212"/>
            <a:ext cx="14323040" cy="4030501"/>
          </a:xfrm>
        </p:spPr>
        <p:txBody>
          <a:bodyPr anchor="b"/>
          <a:lstStyle>
            <a:lvl1pPr marL="0" indent="0">
              <a:buNone/>
              <a:defRPr sz="11300" b="1"/>
            </a:lvl1pPr>
            <a:lvl2pPr marL="2159635" indent="0">
              <a:buNone/>
              <a:defRPr sz="9500" b="1"/>
            </a:lvl2pPr>
            <a:lvl3pPr marL="4319905" indent="0">
              <a:buNone/>
              <a:defRPr sz="8500" b="1"/>
            </a:lvl3pPr>
            <a:lvl4pPr marL="6479540" indent="0">
              <a:buNone/>
              <a:defRPr sz="7600" b="1"/>
            </a:lvl4pPr>
            <a:lvl5pPr marL="8639175" indent="0">
              <a:buNone/>
              <a:defRPr sz="7600" b="1"/>
            </a:lvl5pPr>
            <a:lvl6pPr marL="10799445" indent="0">
              <a:buNone/>
              <a:defRPr sz="7600" b="1"/>
            </a:lvl6pPr>
            <a:lvl7pPr marL="12959080" indent="0">
              <a:buNone/>
              <a:defRPr sz="7600" b="1"/>
            </a:lvl7pPr>
            <a:lvl8pPr marL="15118715" indent="0">
              <a:buNone/>
              <a:defRPr sz="7600" b="1"/>
            </a:lvl8pPr>
            <a:lvl9pPr marL="17278985" indent="0">
              <a:buNone/>
              <a:defRPr sz="7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 hasCustomPrompt="1"/>
          </p:nvPr>
        </p:nvSpPr>
        <p:spPr>
          <a:xfrm>
            <a:off x="16460809" y="13701713"/>
            <a:ext cx="14323040" cy="24893114"/>
          </a:xfrm>
        </p:spPr>
        <p:txBody>
          <a:bodyPr/>
          <a:lstStyle>
            <a:lvl1pPr>
              <a:defRPr sz="11300"/>
            </a:lvl1pPr>
            <a:lvl2pPr>
              <a:defRPr sz="9500"/>
            </a:lvl2pPr>
            <a:lvl3pPr>
              <a:defRPr sz="8500"/>
            </a:lvl3pPr>
            <a:lvl4pPr>
              <a:defRPr sz="7600"/>
            </a:lvl4pPr>
            <a:lvl5pPr>
              <a:defRPr sz="7600"/>
            </a:lvl5pPr>
            <a:lvl6pPr>
              <a:defRPr sz="7600"/>
            </a:lvl6pPr>
            <a:lvl7pPr>
              <a:defRPr sz="7600"/>
            </a:lvl7pPr>
            <a:lvl8pPr>
              <a:defRPr sz="7600"/>
            </a:lvl8pPr>
            <a:lvl9pPr>
              <a:defRPr sz="7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74B865E-3EBC-4265-B375-EEF8F6FBC1A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8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9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D5B295-96E2-4D59-BC92-D7EED529F207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CC77728-1E53-4CEC-98BE-EDFDF33A066A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4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9CC76D9-17D6-402F-B7E6-18B8F83E8A38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AEFA4B-8D63-4C75-8413-34904A565DF0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3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4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E7F4DC-DA64-479F-8B6C-86875906CC5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1620208" y="1720215"/>
            <a:ext cx="10660709" cy="7320915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12669083" y="1720218"/>
            <a:ext cx="18114764" cy="36874612"/>
          </a:xfrm>
        </p:spPr>
        <p:txBody>
          <a:bodyPr/>
          <a:lstStyle>
            <a:lvl1pPr>
              <a:defRPr sz="15100"/>
            </a:lvl1pPr>
            <a:lvl2pPr>
              <a:defRPr sz="13200"/>
            </a:lvl2pPr>
            <a:lvl3pPr>
              <a:defRPr sz="11300"/>
            </a:lvl3pPr>
            <a:lvl4pPr>
              <a:defRPr sz="9500"/>
            </a:lvl4pPr>
            <a:lvl5pPr>
              <a:defRPr sz="9500"/>
            </a:lvl5pPr>
            <a:lvl6pPr>
              <a:defRPr sz="9500"/>
            </a:lvl6pPr>
            <a:lvl7pPr>
              <a:defRPr sz="9500"/>
            </a:lvl7pPr>
            <a:lvl8pPr>
              <a:defRPr sz="9500"/>
            </a:lvl8pPr>
            <a:lvl9pPr>
              <a:defRPr sz="95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1620208" y="9041139"/>
            <a:ext cx="10660709" cy="29553697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A3DAC36-816A-41A8-B2AA-21E73DA6278B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FCB8AF-A0A4-4F7E-B331-B81124D4BECD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>
          <a:xfrm>
            <a:off x="6351421" y="30243780"/>
            <a:ext cx="19442430" cy="3570449"/>
          </a:xfrm>
        </p:spPr>
        <p:txBody>
          <a:bodyPr anchor="b"/>
          <a:lstStyle>
            <a:lvl1pPr algn="l">
              <a:defRPr sz="95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6351421" y="3860483"/>
            <a:ext cx="19442430" cy="25923240"/>
          </a:xfrm>
        </p:spPr>
        <p:txBody>
          <a:bodyPr rtlCol="0">
            <a:normAutofit/>
          </a:bodyPr>
          <a:lstStyle>
            <a:lvl1pPr marL="0" indent="0">
              <a:buNone/>
              <a:defRPr sz="15100"/>
            </a:lvl1pPr>
            <a:lvl2pPr marL="2159635" indent="0">
              <a:buNone/>
              <a:defRPr sz="13200"/>
            </a:lvl2pPr>
            <a:lvl3pPr marL="4319905" indent="0">
              <a:buNone/>
              <a:defRPr sz="11300"/>
            </a:lvl3pPr>
            <a:lvl4pPr marL="6479540" indent="0">
              <a:buNone/>
              <a:defRPr sz="9500"/>
            </a:lvl4pPr>
            <a:lvl5pPr marL="8639175" indent="0">
              <a:buNone/>
              <a:defRPr sz="9500"/>
            </a:lvl5pPr>
            <a:lvl6pPr marL="10799445" indent="0">
              <a:buNone/>
              <a:defRPr sz="9500"/>
            </a:lvl6pPr>
            <a:lvl7pPr marL="12959080" indent="0">
              <a:buNone/>
              <a:defRPr sz="9500"/>
            </a:lvl7pPr>
            <a:lvl8pPr marL="15118715" indent="0">
              <a:buNone/>
              <a:defRPr sz="9500"/>
            </a:lvl8pPr>
            <a:lvl9pPr marL="17278985" indent="0">
              <a:buNone/>
              <a:defRPr sz="9500"/>
            </a:lvl9pPr>
          </a:lstStyle>
          <a:p>
            <a:pPr lvl="0"/>
            <a:endParaRPr lang="pt-BR" noProof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 hasCustomPrompt="1"/>
          </p:nvPr>
        </p:nvSpPr>
        <p:spPr>
          <a:xfrm>
            <a:off x="6351421" y="33814229"/>
            <a:ext cx="19442430" cy="5070631"/>
          </a:xfrm>
        </p:spPr>
        <p:txBody>
          <a:bodyPr/>
          <a:lstStyle>
            <a:lvl1pPr marL="0" indent="0">
              <a:buNone/>
              <a:defRPr sz="6600"/>
            </a:lvl1pPr>
            <a:lvl2pPr marL="2159635" indent="0">
              <a:buNone/>
              <a:defRPr sz="5700"/>
            </a:lvl2pPr>
            <a:lvl3pPr marL="4319905" indent="0">
              <a:buNone/>
              <a:defRPr sz="4700"/>
            </a:lvl3pPr>
            <a:lvl4pPr marL="6479540" indent="0">
              <a:buNone/>
              <a:defRPr sz="4300"/>
            </a:lvl4pPr>
            <a:lvl5pPr marL="8639175" indent="0">
              <a:buNone/>
              <a:defRPr sz="4300"/>
            </a:lvl5pPr>
            <a:lvl6pPr marL="10799445" indent="0">
              <a:buNone/>
              <a:defRPr sz="4300"/>
            </a:lvl6pPr>
            <a:lvl7pPr marL="12959080" indent="0">
              <a:buNone/>
              <a:defRPr sz="4300"/>
            </a:lvl7pPr>
            <a:lvl8pPr marL="15118715" indent="0">
              <a:buNone/>
              <a:defRPr sz="4300"/>
            </a:lvl8pPr>
            <a:lvl9pPr marL="17278985" indent="0">
              <a:buNone/>
              <a:defRPr sz="43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ECE69EE-2AF6-4968-84E0-1B7AF7E9591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6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7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91E55D4-9C53-4FB9-95D7-8EF8556D1932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54EE6EC-1525-4423-A8D4-82B9DF5BF7ED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3365D69-862D-4D89-B06B-C9F5F3FD2096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 hasCustomPrompt="1"/>
          </p:nvPr>
        </p:nvSpPr>
        <p:spPr>
          <a:xfrm>
            <a:off x="83254782" y="10901365"/>
            <a:ext cx="25833229" cy="232249028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5743850" y="10901365"/>
            <a:ext cx="76970870" cy="232249028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A2F35B1-1408-4DD7-84DE-79FAEF80B932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5E05A92-552F-46A8-BEA5-97C48A893E43}" type="slidenum">
              <a:rPr lang="pt-BR" altLang="pt-BR"/>
              <a:t>‹nº›</a:t>
            </a:fld>
            <a:endParaRPr lang="pt-BR" altLang="pt-BR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53000">
              <a:srgbClr val="F7FAF2">
                <a:alpha val="0"/>
              </a:srgbClr>
            </a:gs>
            <a:gs pos="74380">
              <a:srgbClr val="DDE8C6"/>
            </a:gs>
            <a:gs pos="28126">
              <a:srgbClr val="FFFFFF"/>
            </a:gs>
            <a:gs pos="18750">
              <a:schemeClr val="bg1"/>
            </a:gs>
            <a:gs pos="39000">
              <a:schemeClr val="bg1"/>
            </a:gs>
            <a:gs pos="100000">
              <a:schemeClr val="accent3">
                <a:lumMod val="60000"/>
                <a:lumOff val="40000"/>
              </a:schemeClr>
            </a:gs>
          </a:gsLst>
          <a:path path="circle">
            <a:fillToRect l="100000" b="100000"/>
          </a:path>
          <a:tileRect t="-100000" r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ço Reservado para Título 1"/>
          <p:cNvSpPr>
            <a:spLocks noGrp="1"/>
          </p:cNvSpPr>
          <p:nvPr>
            <p:ph type="title"/>
          </p:nvPr>
        </p:nvSpPr>
        <p:spPr bwMode="auto">
          <a:xfrm>
            <a:off x="1620838" y="1730375"/>
            <a:ext cx="29162375" cy="72009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/>
          <a:p>
            <a:pPr lvl="0"/>
            <a:r>
              <a:rPr lang="pt-BR" altLang="pt-BR"/>
              <a:t>Clique para editar o estilo do título mestre</a:t>
            </a:r>
          </a:p>
        </p:txBody>
      </p:sp>
      <p:sp>
        <p:nvSpPr>
          <p:cNvPr id="1027" name="Espaço Reservado para Texto 2"/>
          <p:cNvSpPr>
            <a:spLocks noGrp="1"/>
          </p:cNvSpPr>
          <p:nvPr>
            <p:ph type="body" idx="1"/>
          </p:nvPr>
        </p:nvSpPr>
        <p:spPr bwMode="auto">
          <a:xfrm>
            <a:off x="1620838" y="10080625"/>
            <a:ext cx="29162375" cy="2851467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t" anchorCtr="0" compatLnSpc="1"/>
          <a:lstStyle/>
          <a:p>
            <a:pPr lvl="0"/>
            <a:r>
              <a:rPr lang="pt-BR" altLang="pt-BR"/>
              <a:t>Clique para editar os estilos do texto mestre</a:t>
            </a:r>
          </a:p>
          <a:p>
            <a:pPr lvl="1"/>
            <a:r>
              <a:rPr lang="pt-BR" altLang="pt-BR"/>
              <a:t>Segundo nível</a:t>
            </a:r>
          </a:p>
          <a:p>
            <a:pPr lvl="2"/>
            <a:r>
              <a:rPr lang="pt-BR" altLang="pt-BR"/>
              <a:t>Terceiro nível</a:t>
            </a:r>
          </a:p>
          <a:p>
            <a:pPr lvl="3"/>
            <a:r>
              <a:rPr lang="pt-BR" altLang="pt-BR"/>
              <a:t>Quarto nível</a:t>
            </a:r>
          </a:p>
          <a:p>
            <a:pPr lvl="4"/>
            <a:r>
              <a:rPr lang="pt-BR" alt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 bwMode="auto">
          <a:xfrm>
            <a:off x="16208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FC6A291B-ECA8-4045-8E11-DF4FD6062A15}" type="datetimeFigureOut">
              <a:rPr lang="pt-BR" altLang="pt-BR"/>
              <a:t>09/09/2026</a:t>
            </a:fld>
            <a:endParaRPr lang="pt-BR" alt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 bwMode="auto">
          <a:xfrm>
            <a:off x="11071225" y="40044688"/>
            <a:ext cx="10261600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ct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endParaRPr lang="pt-BR" alt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 bwMode="auto">
          <a:xfrm>
            <a:off x="23223538" y="40044688"/>
            <a:ext cx="7559675" cy="2300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431974" tIns="215984" rIns="431974" bIns="215984" numCol="1" anchor="ctr" anchorCtr="0" compatLnSpc="1"/>
          <a:lstStyle>
            <a:lvl1pPr algn="r">
              <a:defRPr sz="5700" smtClean="0">
                <a:solidFill>
                  <a:srgbClr val="898989"/>
                </a:solidFill>
              </a:defRPr>
            </a:lvl1pPr>
          </a:lstStyle>
          <a:p>
            <a:pPr>
              <a:defRPr/>
            </a:pPr>
            <a:fld id="{E7E2F019-5AF5-4F09-9CEE-D55816ED1147}" type="slidenum">
              <a:rPr lang="pt-BR" altLang="pt-BR"/>
              <a:t>‹nº›</a:t>
            </a:fld>
            <a:endParaRPr lang="pt-BR" alt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19905" rtl="0" eaLnBrk="0" fontAlgn="base" hangingPunct="0">
        <a:spcBef>
          <a:spcPct val="0"/>
        </a:spcBef>
        <a:spcAft>
          <a:spcPct val="0"/>
        </a:spcAft>
        <a:defRPr sz="208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2pPr>
      <a:lvl3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3pPr>
      <a:lvl4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4pPr>
      <a:lvl5pPr algn="ctr" defTabSz="4319905" rtl="0" eaLnBrk="0" fontAlgn="base" hangingPunct="0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5pPr>
      <a:lvl6pPr marL="4572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6pPr>
      <a:lvl7pPr marL="9144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7pPr>
      <a:lvl8pPr marL="13716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8pPr>
      <a:lvl9pPr marL="1828800" algn="ctr" defTabSz="4319905" rtl="0" fontAlgn="base">
        <a:spcBef>
          <a:spcPct val="0"/>
        </a:spcBef>
        <a:spcAft>
          <a:spcPct val="0"/>
        </a:spcAft>
        <a:defRPr sz="20800">
          <a:solidFill>
            <a:schemeClr val="tx1"/>
          </a:solidFill>
          <a:latin typeface="Calibri" panose="020F0502020204030204" pitchFamily="34" charset="0"/>
        </a:defRPr>
      </a:lvl9pPr>
    </p:titleStyle>
    <p:bodyStyle>
      <a:lvl1pPr marL="1617980" indent="-161798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5100" kern="1200">
          <a:solidFill>
            <a:schemeClr val="tx1"/>
          </a:solidFill>
          <a:latin typeface="+mn-lt"/>
          <a:ea typeface="+mn-ea"/>
          <a:cs typeface="+mn-cs"/>
        </a:defRPr>
      </a:lvl1pPr>
      <a:lvl2pPr marL="3507105" indent="-1348105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3200" kern="1200">
          <a:solidFill>
            <a:schemeClr val="tx1"/>
          </a:solidFill>
          <a:latin typeface="+mn-lt"/>
          <a:ea typeface="+mn-ea"/>
          <a:cs typeface="+mn-cs"/>
        </a:defRPr>
      </a:lvl2pPr>
      <a:lvl3pPr marL="5399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11300" kern="1200">
          <a:solidFill>
            <a:schemeClr val="tx1"/>
          </a:solidFill>
          <a:latin typeface="+mn-lt"/>
          <a:ea typeface="+mn-ea"/>
          <a:cs typeface="+mn-cs"/>
        </a:defRPr>
      </a:lvl3pPr>
      <a:lvl4pPr marL="7558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9500" kern="1200">
          <a:solidFill>
            <a:schemeClr val="tx1"/>
          </a:solidFill>
          <a:latin typeface="+mn-lt"/>
          <a:ea typeface="+mn-ea"/>
          <a:cs typeface="+mn-cs"/>
        </a:defRPr>
      </a:lvl4pPr>
      <a:lvl5pPr marL="9717405" indent="-1078230" algn="l" defTabSz="4319905" rtl="0" eaLnBrk="0" fontAlgn="base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9500" kern="1200">
          <a:solidFill>
            <a:schemeClr val="tx1"/>
          </a:solidFill>
          <a:latin typeface="+mn-lt"/>
          <a:ea typeface="+mn-ea"/>
          <a:cs typeface="+mn-cs"/>
        </a:defRPr>
      </a:lvl5pPr>
      <a:lvl6pPr marL="1187894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6pPr>
      <a:lvl7pPr marL="14039215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7pPr>
      <a:lvl8pPr marL="1619885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8pPr>
      <a:lvl9pPr marL="18359120" indent="-1080135" algn="l" defTabSz="4319905" rtl="0" eaLnBrk="1" latinLnBrk="0" hangingPunct="1">
        <a:spcBef>
          <a:spcPct val="20000"/>
        </a:spcBef>
        <a:buFont typeface="Arial" panose="020B0604020202020204" pitchFamily="34" charset="0"/>
        <a:buChar char="•"/>
        <a:defRPr sz="9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1pPr>
      <a:lvl2pPr marL="215963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2pPr>
      <a:lvl3pPr marL="431990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3pPr>
      <a:lvl4pPr marL="647954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4pPr>
      <a:lvl5pPr marL="863917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5pPr>
      <a:lvl6pPr marL="1079944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6pPr>
      <a:lvl7pPr marL="12959080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7pPr>
      <a:lvl8pPr marL="1511871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8pPr>
      <a:lvl9pPr marL="17278985" algn="l" defTabSz="4319905" rtl="0" eaLnBrk="1" latinLnBrk="0" hangingPunct="1">
        <a:defRPr sz="85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ext Box 6"/>
          <p:cNvSpPr txBox="1">
            <a:spLocks noChangeArrowheads="1"/>
          </p:cNvSpPr>
          <p:nvPr/>
        </p:nvSpPr>
        <p:spPr bwMode="auto">
          <a:xfrm>
            <a:off x="869061" y="7858059"/>
            <a:ext cx="14832518" cy="118196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No contexto atual da Publicidade e Propaganda, as estratégias colaborativas (</a:t>
            </a:r>
            <a:r>
              <a:rPr lang="pt-BR" sz="3200" dirty="0" err="1"/>
              <a:t>Collabs</a:t>
            </a:r>
            <a:r>
              <a:rPr lang="pt-BR" sz="3200" dirty="0"/>
              <a:t>) se consolidam como ferramentas eficazes para gerar inovação e relevância. 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Segundo </a:t>
            </a:r>
            <a:r>
              <a:rPr lang="pt-BR" sz="3200" dirty="0" err="1"/>
              <a:t>Cusatis</a:t>
            </a:r>
            <a:r>
              <a:rPr lang="pt-BR" sz="3200" dirty="0"/>
              <a:t> (2024) “quando uma marca estabelece estratégias inteligentes, engaja os consumidores por meio de múltiplos sentidos e se adapta rapidamente às mudanças, ela não só fortalece sua presença no mercado como também constrói uma narrativa convincente e uma identidade duradoura”. 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As </a:t>
            </a:r>
            <a:r>
              <a:rPr lang="pt-BR" sz="3200" dirty="0" err="1"/>
              <a:t>collabs</a:t>
            </a:r>
            <a:r>
              <a:rPr lang="pt-BR" sz="3200" dirty="0"/>
              <a:t> ampliam o alcance da comunicação, permitem apresentar as empresas a novos públicos e criam experiências memoráveis, o que contribui para maior engajamento, fidelização e possibilitam ações promocionais.	Entre as marcas que mais utilizam a estratégia de </a:t>
            </a:r>
            <a:r>
              <a:rPr lang="pt-BR" sz="3200" i="1" dirty="0" err="1"/>
              <a:t>Collab</a:t>
            </a:r>
            <a:r>
              <a:rPr lang="pt-BR" sz="3200" dirty="0"/>
              <a:t> está o Burger King, Bauducco e Coca-Cola, com colaborações notáveis envolvendo influenciadores e empresas, segundo a pesquisa da revista Exame. (Pio, 2025).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O objetivo deste trabalho é apresentar como a estratégia de colaboração entre marcas (</a:t>
            </a:r>
            <a:r>
              <a:rPr lang="pt-BR" sz="3200" i="1" dirty="0" err="1"/>
              <a:t>Collab</a:t>
            </a:r>
            <a:r>
              <a:rPr lang="pt-BR" sz="3200" i="1" dirty="0"/>
              <a:t>)</a:t>
            </a:r>
            <a:r>
              <a:rPr lang="pt-BR" sz="3200" dirty="0"/>
              <a:t> pode potencializar as vendas e ajudar captar novos públicos, além de demonstrar o valor resultante entre as dessa colaboração. </a:t>
            </a:r>
          </a:p>
        </p:txBody>
      </p:sp>
      <p:sp>
        <p:nvSpPr>
          <p:cNvPr id="2055" name="Text Box 7"/>
          <p:cNvSpPr txBox="1">
            <a:spLocks noChangeArrowheads="1"/>
          </p:cNvSpPr>
          <p:nvPr/>
        </p:nvSpPr>
        <p:spPr bwMode="auto">
          <a:xfrm>
            <a:off x="920070" y="7079011"/>
            <a:ext cx="14559135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INTRODUÇÃO</a:t>
            </a:r>
          </a:p>
        </p:txBody>
      </p:sp>
      <p:sp>
        <p:nvSpPr>
          <p:cNvPr id="2056" name="Text Box 8"/>
          <p:cNvSpPr txBox="1">
            <a:spLocks noChangeArrowheads="1"/>
          </p:cNvSpPr>
          <p:nvPr/>
        </p:nvSpPr>
        <p:spPr bwMode="auto">
          <a:xfrm>
            <a:off x="936280" y="19755538"/>
            <a:ext cx="14608432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METODOLOGIA</a:t>
            </a:r>
          </a:p>
        </p:txBody>
      </p:sp>
      <p:sp>
        <p:nvSpPr>
          <p:cNvPr id="2059" name="Text Box 11"/>
          <p:cNvSpPr txBox="1">
            <a:spLocks noChangeArrowheads="1"/>
          </p:cNvSpPr>
          <p:nvPr/>
        </p:nvSpPr>
        <p:spPr bwMode="auto">
          <a:xfrm>
            <a:off x="936280" y="28042501"/>
            <a:ext cx="14567574" cy="808038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RESULTADOS</a:t>
            </a:r>
          </a:p>
        </p:txBody>
      </p:sp>
      <p:sp>
        <p:nvSpPr>
          <p:cNvPr id="2186" name="Text Box 138"/>
          <p:cNvSpPr txBox="1">
            <a:spLocks noChangeArrowheads="1"/>
          </p:cNvSpPr>
          <p:nvPr/>
        </p:nvSpPr>
        <p:spPr bwMode="auto">
          <a:xfrm>
            <a:off x="16719738" y="32574579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CONCLUSÕES</a:t>
            </a:r>
          </a:p>
        </p:txBody>
      </p:sp>
      <p:sp>
        <p:nvSpPr>
          <p:cNvPr id="4" name="Text Box 139"/>
          <p:cNvSpPr txBox="1">
            <a:spLocks noChangeArrowheads="1"/>
          </p:cNvSpPr>
          <p:nvPr/>
        </p:nvSpPr>
        <p:spPr bwMode="auto">
          <a:xfrm>
            <a:off x="16693615" y="33421649"/>
            <a:ext cx="14693211" cy="3694379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Conclui-se que, quando bem planejadas e alinhadas a elementos criativos e de representatividade, as colaborações entre marcas configuram-se como uma estratégia promissora, contribuindo não apenas para atrair novos públicos, mas também para consolidar a identidade das empresas diante de um ambiente competitivo em constante transformação.</a:t>
            </a:r>
          </a:p>
        </p:txBody>
      </p:sp>
      <p:sp>
        <p:nvSpPr>
          <p:cNvPr id="5" name="Rectangle 21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7" name="Rectangle 23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58" name="Rectangle 25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6" name="Rectangle 19"/>
          <p:cNvSpPr>
            <a:spLocks noChangeArrowheads="1"/>
          </p:cNvSpPr>
          <p:nvPr/>
        </p:nvSpPr>
        <p:spPr bwMode="auto">
          <a:xfrm>
            <a:off x="0" y="-700088"/>
            <a:ext cx="184150" cy="1400176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lIns="91424" tIns="45710" rIns="91424" bIns="45710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60" name="CaixaDeTexto 26"/>
          <p:cNvSpPr txBox="1">
            <a:spLocks noChangeArrowheads="1"/>
          </p:cNvSpPr>
          <p:nvPr/>
        </p:nvSpPr>
        <p:spPr bwMode="auto">
          <a:xfrm>
            <a:off x="895422" y="20473886"/>
            <a:ext cx="14719103" cy="7387708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24" tIns="45710" rIns="91424" bIns="4571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Para obter os resultados e respostas acerca do tema, foram realizadas pesquisas bibliográficas conforme o tema. Utilizou-se também uma pesquisa quantitativa, aplicada de forma aleatória e voluntária com 80 residentes da cidade de São José dos Campos – SP acima de 18 anos, interessados em suplementos e gomas de mascar. A pesquisa foi aplicada através de um formulário online na plataforma </a:t>
            </a:r>
            <a:r>
              <a:rPr lang="pt-BR" sz="3200" i="1" dirty="0"/>
              <a:t>Google </a:t>
            </a:r>
            <a:r>
              <a:rPr lang="pt-BR" sz="3200" i="1" dirty="0" err="1"/>
              <a:t>Forms</a:t>
            </a:r>
            <a:r>
              <a:rPr lang="pt-BR" sz="3200" i="1" dirty="0"/>
              <a:t> e continha</a:t>
            </a:r>
            <a:r>
              <a:rPr lang="pt-BR" sz="3200" dirty="0"/>
              <a:t> 12 questões, sendo divulgada entre 11 e 22 de agosto de 2025. 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As questões tiveram como objetivo analisar sobre hábitos, preferências e intenções de consumo relacionadas a suplementos e chicletes. O público-alvo contemplou indivíduos</a:t>
            </a:r>
          </a:p>
        </p:txBody>
      </p:sp>
      <p:sp>
        <p:nvSpPr>
          <p:cNvPr id="2064" name="Text Box 5"/>
          <p:cNvSpPr txBox="1">
            <a:spLocks noChangeArrowheads="1"/>
          </p:cNvSpPr>
          <p:nvPr/>
        </p:nvSpPr>
        <p:spPr bwMode="auto">
          <a:xfrm>
            <a:off x="1657178" y="4769053"/>
            <a:ext cx="29451272" cy="193675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ctr"/>
            <a:r>
              <a:rPr lang="pt-BR" sz="4000" b="1" i="1" dirty="0"/>
              <a:t>Alice de Castro Sene Carvalho, Luiza Florentino Silva, Maria Luiza de Caris Santos, Miguel Pereira Silva, Ana Carolina Marini Figueira dos Santos.</a:t>
            </a:r>
            <a:endParaRPr lang="pt-BR" sz="4000" dirty="0"/>
          </a:p>
          <a:p>
            <a:pPr algn="ctr"/>
            <a:r>
              <a:rPr lang="pt-BR" sz="4000" dirty="0"/>
              <a:t>  </a:t>
            </a:r>
          </a:p>
        </p:txBody>
      </p:sp>
      <p:sp>
        <p:nvSpPr>
          <p:cNvPr id="2065" name="Rectangle 29"/>
          <p:cNvSpPr>
            <a:spLocks noChangeArrowheads="1"/>
          </p:cNvSpPr>
          <p:nvPr/>
        </p:nvSpPr>
        <p:spPr bwMode="auto">
          <a:xfrm>
            <a:off x="0" y="6122160"/>
            <a:ext cx="32404050" cy="50481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lIns="73209" tIns="36605" rIns="73209" bIns="36605">
            <a:spAutoFit/>
          </a:bodyPr>
          <a:lstStyle/>
          <a:p>
            <a:pPr algn="ctr" defTabSz="4318000"/>
            <a:r>
              <a:rPr lang="pt-BR" altLang="pt-BR" sz="2800" dirty="0"/>
              <a:t>Colégio Técnico “Antônio Fernandes Teixeira”, Fundação Vale paraibana de Ensino,  Curso Técnico de Publicidade, Brasil, </a:t>
            </a:r>
            <a:r>
              <a:rPr lang="pt-BR" altLang="pt-BR" sz="2800" dirty="0" err="1"/>
              <a:t>SJCampos</a:t>
            </a:r>
            <a:r>
              <a:rPr lang="pt-BR" altLang="pt-BR" sz="2800" dirty="0"/>
              <a:t> – SP, 12245-020</a:t>
            </a:r>
          </a:p>
        </p:txBody>
      </p:sp>
      <p:sp>
        <p:nvSpPr>
          <p:cNvPr id="3" name="Text Box 138"/>
          <p:cNvSpPr txBox="1">
            <a:spLocks noChangeArrowheads="1"/>
          </p:cNvSpPr>
          <p:nvPr/>
        </p:nvSpPr>
        <p:spPr bwMode="auto">
          <a:xfrm>
            <a:off x="16719738" y="37433912"/>
            <a:ext cx="14693210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REFERÊNCIAS</a:t>
            </a:r>
          </a:p>
        </p:txBody>
      </p:sp>
      <p:sp>
        <p:nvSpPr>
          <p:cNvPr id="2068" name="Text Box 139"/>
          <p:cNvSpPr txBox="1">
            <a:spLocks noChangeArrowheads="1"/>
          </p:cNvSpPr>
          <p:nvPr/>
        </p:nvSpPr>
        <p:spPr bwMode="auto">
          <a:xfrm>
            <a:off x="16676111" y="38241949"/>
            <a:ext cx="14736838" cy="443304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CUSATIS, Camila. Branding: estratégia de marca. São Paulo: Editora Senac São Paulo, 2024.  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PIO, Juliana. </a:t>
            </a:r>
            <a:r>
              <a:rPr lang="pt-BR" sz="3200" dirty="0" err="1"/>
              <a:t>Collabs</a:t>
            </a:r>
            <a:r>
              <a:rPr lang="pt-BR" sz="3200" dirty="0"/>
              <a:t> de sucesso: estudo mostra fatores que impulsionam parcerias entre marcas no Brasil. Exame, 24 fev. 2025. Disponível em: https://exame.com/marketing/collabs-de-sucesso-estudo-mostra-fatores-que-impulsionam-parcerias-entre-marcas-no-brasil/. Acesso em: 01 ago. 2025.</a:t>
            </a:r>
          </a:p>
        </p:txBody>
      </p:sp>
      <p:sp>
        <p:nvSpPr>
          <p:cNvPr id="2070" name="Rectangle 27"/>
          <p:cNvSpPr>
            <a:spLocks noChangeArrowheads="1"/>
          </p:cNvSpPr>
          <p:nvPr/>
        </p:nvSpPr>
        <p:spPr bwMode="auto">
          <a:xfrm>
            <a:off x="860741" y="28792559"/>
            <a:ext cx="14693211" cy="7971383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91415" tIns="45705" rIns="91415" bIns="45705" anchor="ctr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A pesquisa com 80 participantes revelou predominância feminina (65%) e maior concentração na faixa etária de 18 a 22 anos (47%). Sobre a estratégia de colaboração entre marcas (</a:t>
            </a:r>
            <a:r>
              <a:rPr lang="pt-BR" sz="3200" dirty="0" err="1"/>
              <a:t>Collab</a:t>
            </a:r>
            <a:r>
              <a:rPr lang="pt-BR" sz="3200" dirty="0"/>
              <a:t>), 83% já conheciam o conceito e 70% já consumiram produtos resultantes dessas parcerias. A figura 1, apresenta que 97% acreditam que a </a:t>
            </a:r>
            <a:r>
              <a:rPr lang="pt-BR" sz="3200" dirty="0" err="1"/>
              <a:t>Collab</a:t>
            </a:r>
            <a:r>
              <a:rPr lang="pt-BR" sz="3200" dirty="0"/>
              <a:t> aumenta o conhecimento e a visibilidade das marcas. As respostas abertas indicaram que a estratégia ajuda o consumidor a conhecer melhor as marcas, facilita a compra e atrai atenção. Entre os motivos de consumo, destacaram-se curiosidade (30%), já ser cliente das marcas (20%), experiência de compra (18%) e nostalgia (6%).</a:t>
            </a:r>
          </a:p>
          <a:p>
            <a:pPr algn="just">
              <a:lnSpc>
                <a:spcPct val="150000"/>
              </a:lnSpc>
            </a:pPr>
            <a:endParaRPr lang="pt-BR" sz="3200" dirty="0"/>
          </a:p>
          <a:p>
            <a:pPr algn="just"/>
            <a:endParaRPr lang="pt-BR" sz="3200" dirty="0"/>
          </a:p>
        </p:txBody>
      </p:sp>
      <p:sp>
        <p:nvSpPr>
          <p:cNvPr id="2071" name="Rectangle 38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2" name="Rectangle 41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3" name="Rectangle 44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4" name="Rectangle 47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sp>
        <p:nvSpPr>
          <p:cNvPr id="2075" name="Rectangle 50"/>
          <p:cNvSpPr>
            <a:spLocks noChangeArrowheads="1"/>
          </p:cNvSpPr>
          <p:nvPr/>
        </p:nvSpPr>
        <p:spPr bwMode="auto">
          <a:xfrm>
            <a:off x="0" y="0"/>
            <a:ext cx="32404050" cy="45720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none" anchor="ctr">
            <a:spAutoFit/>
          </a:bodyPr>
          <a:lstStyle/>
          <a:p>
            <a:endParaRPr lang="pt-BR" altLang="pt-BR" sz="8500"/>
          </a:p>
        </p:txBody>
      </p:sp>
      <p:pic>
        <p:nvPicPr>
          <p:cNvPr id="2130" name="Imagem 35" descr="LOGO FVE.jpg"/>
          <p:cNvPicPr>
            <a:picLocks noChangeAspect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194268" y="689066"/>
            <a:ext cx="6715125" cy="1527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131" name="Imagem 36" descr="LOGO COLEGIOS.png"/>
          <p:cNvPicPr>
            <a:picLocks noChangeAspect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7172346" y="602250"/>
            <a:ext cx="3619500" cy="1962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" name="Text Box 8"/>
          <p:cNvSpPr txBox="1">
            <a:spLocks noChangeArrowheads="1"/>
          </p:cNvSpPr>
          <p:nvPr/>
        </p:nvSpPr>
        <p:spPr bwMode="auto">
          <a:xfrm>
            <a:off x="16719738" y="16953143"/>
            <a:ext cx="14405977" cy="808037"/>
          </a:xfrm>
          <a:prstGeom prst="rect">
            <a:avLst/>
          </a:prstGeom>
          <a:gradFill rotWithShape="1">
            <a:gsLst>
              <a:gs pos="0">
                <a:schemeClr val="tx2">
                  <a:lumMod val="60000"/>
                  <a:lumOff val="40000"/>
                </a:schemeClr>
              </a:gs>
              <a:gs pos="100000">
                <a:srgbClr val="FFEBCD">
                  <a:alpha val="0"/>
                </a:srgbClr>
              </a:gs>
            </a:gsLst>
            <a:lin ang="0" scaled="1"/>
          </a:gradFill>
          <a:ln w="9525">
            <a:noFill/>
            <a:miter lim="800000"/>
          </a:ln>
          <a:effectLst/>
        </p:spPr>
        <p:txBody>
          <a:bodyPr wrap="square" lIns="91415" tIns="45705" rIns="91415" bIns="45705">
            <a:spAutoFit/>
          </a:bodyPr>
          <a:lstStyle/>
          <a:p>
            <a:pPr defTabSz="4317365">
              <a:defRPr/>
            </a:pPr>
            <a:r>
              <a:rPr lang="pt-BR" sz="4700" b="1" dirty="0">
                <a:effectLst>
                  <a:outerShdw blurRad="38100" dist="38100" dir="2700000" algn="tl">
                    <a:srgbClr val="FFFFFF"/>
                  </a:outerShdw>
                </a:effectLst>
                <a:cs typeface="Times New Roman" panose="02020603050405020304" pitchFamily="18" charset="0"/>
              </a:rPr>
              <a:t>DISCUSSÃO</a:t>
            </a:r>
          </a:p>
        </p:txBody>
      </p:sp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629471" y="1118705"/>
            <a:ext cx="29162375" cy="7200900"/>
          </a:xfrm>
        </p:spPr>
        <p:txBody>
          <a:bodyPr>
            <a:noAutofit/>
          </a:bodyPr>
          <a:lstStyle/>
          <a:p>
            <a:r>
              <a:rPr lang="pt-BR" sz="6600" b="1" dirty="0"/>
              <a:t>COLLAB ENTRE MARCAS: UMA ANÁLISE SOBRE CONHECIMENTO E VIABILIDADE DA ESTRATÉGIA NA POTENCIALIZAÇÃO DAS VENDAS</a:t>
            </a:r>
            <a:br>
              <a:rPr lang="pt-BR" sz="6600" dirty="0"/>
            </a:br>
            <a:r>
              <a:rPr lang="pt-BR" sz="6600" b="1" dirty="0"/>
              <a:t> </a:t>
            </a:r>
            <a:br>
              <a:rPr lang="pt-BR" sz="6600" dirty="0"/>
            </a:br>
            <a:endParaRPr lang="pt-BR" sz="6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4" name="Espaço Reservado para Conteúdo 21"/>
          <p:cNvGraphicFramePr>
            <a:graphicFrameLocks noGrp="1"/>
          </p:cNvGraphicFramePr>
          <p:nvPr>
            <p:ph sz="half" idx="1"/>
            <p:extLst>
              <p:ext uri="{D42A27DB-BD31-4B8C-83A1-F6EECF244321}">
                <p14:modId xmlns:p14="http://schemas.microsoft.com/office/powerpoint/2010/main" val="2184626286"/>
              </p:ext>
            </p:extLst>
          </p:nvPr>
        </p:nvGraphicFramePr>
        <p:xfrm>
          <a:off x="5743575" y="63507938"/>
          <a:ext cx="51401663" cy="17964308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7" name="Espaço Reservado para Conteúdo 6">
            <a:extLst>
              <a:ext uri="{FF2B5EF4-FFF2-40B4-BE49-F238E27FC236}">
                <a16:creationId xmlns:a16="http://schemas.microsoft.com/office/drawing/2014/main" id="{A731F956-465F-09C1-4A34-67204C72A90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2" name="CaixaDeTexto 41"/>
          <p:cNvSpPr txBox="1"/>
          <p:nvPr/>
        </p:nvSpPr>
        <p:spPr>
          <a:xfrm>
            <a:off x="16624277" y="17761180"/>
            <a:ext cx="14919032" cy="147743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3200" dirty="0"/>
              <a:t>	Após a análise dos resultados, observa-se que a estratégia de colaboração entre marcas (</a:t>
            </a:r>
            <a:r>
              <a:rPr lang="pt-BR" sz="3200" i="1" dirty="0" err="1"/>
              <a:t>Collab</a:t>
            </a:r>
            <a:r>
              <a:rPr lang="pt-BR" sz="3200" dirty="0"/>
              <a:t>) é altamente eficaz, sendo valorizada por 97% dos entrevistados, que a consideram uma oportunidade relevante para o intercâmbio de visibilidade e fortalecimento entre as marcas envolvidas. Essa percepção reforça o papel da </a:t>
            </a:r>
            <a:r>
              <a:rPr lang="pt-BR" sz="3200" i="1" dirty="0" err="1"/>
              <a:t>Collab</a:t>
            </a:r>
            <a:r>
              <a:rPr lang="pt-BR" sz="3200" dirty="0"/>
              <a:t> como uma ferramenta estratégica capaz de ampliar o reconhecimento no mercado, aumentar o potencial de vendas, estimular a criatividade, expandir as possibilidades de comunicação e fortalecer o engajamento do público — aspectos já apontados na literatura.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O fato de 70% dos entrevistados afirmarem que já consumiram produtos de uma marca em função de uma colaboração, reforça o impacto positivo dessa estratégia na decisão de compra. Muitos consumidores relataram ainda que são motivados a conhecer melhor as marcas a partir dessas ações.</a:t>
            </a:r>
          </a:p>
          <a:p>
            <a:pPr algn="just">
              <a:lnSpc>
                <a:spcPct val="150000"/>
              </a:lnSpc>
            </a:pPr>
            <a:r>
              <a:rPr lang="pt-BR" sz="3200" dirty="0"/>
              <a:t>	A curiosidade despertada pelas </a:t>
            </a:r>
            <a:r>
              <a:rPr lang="pt-BR" sz="3200" i="1" dirty="0" err="1"/>
              <a:t>Collabs</a:t>
            </a:r>
            <a:r>
              <a:rPr lang="pt-BR" sz="3200" i="1" dirty="0"/>
              <a:t> </a:t>
            </a:r>
            <a:r>
              <a:rPr lang="pt-BR" sz="3200" dirty="0"/>
              <a:t>foi apontada como o principal fator de atração e decisão de compra. A partir desse interesse inicial, o consumidor passa a reconhecer a marca, o que pode levá-lo a se tornar um cliente recorrente. Assim, é fundamental que as marcas explorem essa curiosidade em suas campanhas, utilizando a criatividade como elemento-chave, Portanto, estimular a curiosidade dos consumidores por meio de colaborações criativas não apenas atrai novos públicos, mas também amplia a visibilidade e o valor percebido das marcas no mercado.</a:t>
            </a:r>
          </a:p>
        </p:txBody>
      </p:sp>
      <p:sp>
        <p:nvSpPr>
          <p:cNvPr id="50" name="Rectangle 9"/>
          <p:cNvSpPr>
            <a:spLocks noChangeArrowheads="1"/>
          </p:cNvSpPr>
          <p:nvPr/>
        </p:nvSpPr>
        <p:spPr bwMode="auto">
          <a:xfrm>
            <a:off x="-1103341" y="42126358"/>
            <a:ext cx="174602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Próprios autores, 2025.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6" name="CaixaDeTexto 15"/>
          <p:cNvSpPr txBox="1"/>
          <p:nvPr/>
        </p:nvSpPr>
        <p:spPr>
          <a:xfrm>
            <a:off x="4469232" y="35636802"/>
            <a:ext cx="688032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700" dirty="0"/>
              <a:t>Figura 1- Acredita que a </a:t>
            </a:r>
            <a:r>
              <a:rPr lang="pt-BR" sz="2700" dirty="0" err="1"/>
              <a:t>Collab</a:t>
            </a:r>
            <a:r>
              <a:rPr lang="pt-BR" sz="2700" dirty="0"/>
              <a:t> traz oportunidade de conhecimento da marca</a:t>
            </a:r>
          </a:p>
        </p:txBody>
      </p:sp>
      <p:graphicFrame>
        <p:nvGraphicFramePr>
          <p:cNvPr id="37" name="Gráfico 36"/>
          <p:cNvGraphicFramePr/>
          <p:nvPr>
            <p:extLst>
              <p:ext uri="{D42A27DB-BD31-4B8C-83A1-F6EECF244321}">
                <p14:modId xmlns:p14="http://schemas.microsoft.com/office/powerpoint/2010/main" val="2189308302"/>
              </p:ext>
            </p:extLst>
          </p:nvPr>
        </p:nvGraphicFramePr>
        <p:xfrm>
          <a:off x="5008652" y="36763942"/>
          <a:ext cx="6696588" cy="58773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45" name="Gráfico 44"/>
          <p:cNvGraphicFramePr/>
          <p:nvPr>
            <p:extLst>
              <p:ext uri="{D42A27DB-BD31-4B8C-83A1-F6EECF244321}">
                <p14:modId xmlns:p14="http://schemas.microsoft.com/office/powerpoint/2010/main" val="2836610857"/>
              </p:ext>
            </p:extLst>
          </p:nvPr>
        </p:nvGraphicFramePr>
        <p:xfrm>
          <a:off x="18578289" y="8124744"/>
          <a:ext cx="11037700" cy="79290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sp>
        <p:nvSpPr>
          <p:cNvPr id="8" name="Caixa de Texto 7"/>
          <p:cNvSpPr txBox="1"/>
          <p:nvPr/>
        </p:nvSpPr>
        <p:spPr>
          <a:xfrm>
            <a:off x="18578289" y="7343328"/>
            <a:ext cx="10657184" cy="5078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indent="0" algn="ctr" defTabSz="266700">
              <a:spcBef>
                <a:spcPct val="0"/>
              </a:spcBef>
              <a:spcAft>
                <a:spcPct val="0"/>
              </a:spcAft>
            </a:pPr>
            <a:r>
              <a:rPr sz="2700" dirty="0" err="1">
                <a:latin typeface="Arial" panose="020B0604020202020204"/>
                <a:ea typeface="Times New Roman" panose="02020603050405020304"/>
              </a:rPr>
              <a:t>Figura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2: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Motivo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pelo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qual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consomem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</a:t>
            </a:r>
            <a:r>
              <a:rPr sz="2700" dirty="0" err="1">
                <a:latin typeface="Arial" panose="020B0604020202020204"/>
                <a:ea typeface="Times New Roman" panose="02020603050405020304"/>
              </a:rPr>
              <a:t>produtos</a:t>
            </a:r>
            <a:r>
              <a:rPr sz="2700" dirty="0">
                <a:latin typeface="Arial" panose="020B0604020202020204"/>
                <a:ea typeface="Times New Roman" panose="02020603050405020304"/>
              </a:rPr>
              <a:t> de </a:t>
            </a:r>
            <a:r>
              <a:rPr sz="2700" i="1" dirty="0">
                <a:latin typeface="Arial" panose="020B0604020202020204"/>
                <a:ea typeface="Times New Roman" panose="02020603050405020304"/>
              </a:rPr>
              <a:t>Collab</a:t>
            </a:r>
          </a:p>
        </p:txBody>
      </p:sp>
      <p:sp>
        <p:nvSpPr>
          <p:cNvPr id="9" name="Rectangle 9"/>
          <p:cNvSpPr>
            <a:spLocks noChangeArrowheads="1"/>
          </p:cNvSpPr>
          <p:nvPr/>
        </p:nvSpPr>
        <p:spPr bwMode="auto">
          <a:xfrm>
            <a:off x="14783471" y="15975005"/>
            <a:ext cx="17460263" cy="5232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spAutoFit/>
          </a:bodyPr>
          <a:lstStyle/>
          <a:p>
            <a:pPr marL="0" marR="0" lvl="0" indent="180975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r>
              <a:rPr kumimoji="0" lang="pt-BR" altLang="pt-BR" sz="2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Fonte: Próprios autores, 2025.</a:t>
            </a:r>
            <a:endParaRPr kumimoji="0" lang="pt-BR" altLang="pt-BR" sz="2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904</Words>
  <Application>Microsoft Office PowerPoint</Application>
  <PresentationFormat>Personalizar</PresentationFormat>
  <Paragraphs>33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Times New Roman</vt:lpstr>
      <vt:lpstr>Tema do Office</vt:lpstr>
      <vt:lpstr>COLLAB ENTRE MARCAS: UMA ANÁLISE SOBRE CONHECIMENTO E VIABILIDADE DA ESTRATÉGIA NA POTENCIALIZAÇÃO DAS VENDAS   </vt:lpstr>
    </vt:vector>
  </TitlesOfParts>
  <Company>home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bb</dc:creator>
  <cp:lastModifiedBy>ALBERSON WANDER</cp:lastModifiedBy>
  <cp:revision>159</cp:revision>
  <dcterms:created xsi:type="dcterms:W3CDTF">2006-10-17T17:23:00Z</dcterms:created>
  <dcterms:modified xsi:type="dcterms:W3CDTF">2026-09-09T22:28:04Z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39ED26A13F3342959E540CC92CC3BD6D_13</vt:lpwstr>
  </property>
  <property fmtid="{D5CDD505-2E9C-101B-9397-08002B2CF9AE}" pid="3" name="KSOProductBuildVer">
    <vt:lpwstr>1046-12.2.0.22549</vt:lpwstr>
  </property>
</Properties>
</file>