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404050" cy="43205400"/>
  <p:notesSz cx="6858000" cy="9710738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59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31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03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7530" indent="1905" algn="l" rtl="0" fontAlgn="base">
      <a:spcBef>
        <a:spcPct val="0"/>
      </a:spcBef>
      <a:spcAft>
        <a:spcPct val="0"/>
      </a:spcAft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81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 userDrawn="1">
          <p15:clr>
            <a:srgbClr val="A4A3A4"/>
          </p15:clr>
        </p15:guide>
        <p15:guide id="2" pos="1020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CB4040"/>
    <a:srgbClr val="CD4141"/>
    <a:srgbClr val="C84646"/>
    <a:srgbClr val="008080"/>
    <a:srgbClr val="619A36"/>
    <a:srgbClr val="FF0000"/>
    <a:srgbClr val="006C00"/>
    <a:srgbClr val="C1F4A8"/>
    <a:srgbClr val="FFEB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6765" autoAdjust="0"/>
    <p:restoredTop sz="96595" autoAdjust="0"/>
  </p:normalViewPr>
  <p:slideViewPr>
    <p:cSldViewPr showGuides="1">
      <p:cViewPr>
        <p:scale>
          <a:sx n="33" d="100"/>
          <a:sy n="33" d="100"/>
        </p:scale>
        <p:origin x="288" y="168"/>
      </p:cViewPr>
      <p:guideLst>
        <p:guide orient="horz" pos="13608"/>
        <p:guide pos="102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</c:spPr>
    </c:floor>
    <c:sideWall>
      <c:thickness val="0"/>
      <c:spPr>
        <a:noFill/>
        <a:ln>
          <a:noFill/>
        </a:ln>
        <a:effectLst/>
      </c:spPr>
    </c:sideWall>
    <c:backWall>
      <c:thickness val="0"/>
      <c:spPr>
        <a:noFill/>
        <a:ln>
          <a:noFill/>
        </a:ln>
        <a:effectLst/>
      </c:spPr>
    </c:backWall>
    <c:plotArea>
      <c:layout>
        <c:manualLayout>
          <c:layoutTarget val="inner"/>
          <c:xMode val="edge"/>
          <c:yMode val="edge"/>
          <c:x val="0"/>
          <c:y val="0.185000759911258"/>
          <c:w val="0.72722358209593196"/>
          <c:h val="0.65381744940763398"/>
        </c:manualLayout>
      </c:layout>
      <c:pie3DChart>
        <c:varyColors val="1"/>
        <c:dLbls>
          <c:showLegendKey val="0"/>
          <c:showVal val="1"/>
          <c:showCatName val="0"/>
          <c:showSerName val="0"/>
          <c:showPercent val="0"/>
          <c:showBubbleSize val="0"/>
          <c:showLeaderLines val="0"/>
        </c:dLbls>
      </c:pie3DChart>
      <c:spPr>
        <a:noFill/>
        <a:ln>
          <a:noFill/>
        </a:ln>
        <a:effectLst/>
      </c:spPr>
    </c:plotArea>
    <c:plotVisOnly val="1"/>
    <c:dispBlanksAs val="zero"/>
    <c:showDLblsOverMax val="0"/>
    <c:extLst>
      <c:ext uri="{0b15fc19-7d7d-44ad-8c2d-2c3a37ce22c3}">
        <chartProps xmlns="https://web.wps.cn/et/2018/main" chartId="{febf08c3-dec5-481d-a904-e5686aa9ebce}"/>
      </c:ext>
    </c:extLst>
  </c:chart>
  <c:spPr>
    <a:noFill/>
    <a:ln>
      <a:noFill/>
    </a:ln>
    <a:effectLst/>
  </c:spPr>
  <c:txPr>
    <a:bodyPr/>
    <a:lstStyle/>
    <a:p>
      <a:pPr>
        <a:defRPr lang="pt-BR" sz="300"/>
      </a:pPr>
      <a:endParaRPr lang="pt-BR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C4A5D341-4EBE-4A71-8129-9C53C0EA2457}" type="datetimeFigureOut">
              <a:rPr lang="pt-BR"/>
              <a:t>25/09/2026</a:t>
            </a:fld>
            <a:endParaRPr lang="pt-BR"/>
          </a:p>
        </p:txBody>
      </p:sp>
      <p:sp>
        <p:nvSpPr>
          <p:cNvPr id="3076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085975" y="762000"/>
            <a:ext cx="2686050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</p:spPr>
      </p:sp>
      <p:sp>
        <p:nvSpPr>
          <p:cNvPr id="14341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029200" cy="43434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14342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202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4343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220200"/>
            <a:ext cx="2971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>
              <a:defRPr/>
            </a:pPr>
            <a:fld id="{1F1E8F8A-9447-4DD4-8418-04C6B534993D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4099" name="Rectangle 1027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pt-BR" altLang="pt-BR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596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1990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79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39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7994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59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187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78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BEB365-19CE-49BC-A87B-5FAE5E1096C2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133578-FC4D-4DF7-9385-231932049281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92F7D1-0405-42EE-ACB5-97F5B85A7B86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5F217F-38D1-49F0-A4BD-4C67E474F56A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2559696" y="27763479"/>
            <a:ext cx="27543443" cy="8581073"/>
          </a:xfrm>
        </p:spPr>
        <p:txBody>
          <a:bodyPr anchor="t"/>
          <a:lstStyle>
            <a:lvl1pPr algn="l">
              <a:defRPr sz="189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2559696" y="18312295"/>
            <a:ext cx="27543443" cy="9451178"/>
          </a:xfrm>
        </p:spPr>
        <p:txBody>
          <a:bodyPr anchor="b"/>
          <a:lstStyle>
            <a:lvl1pPr marL="0" indent="0">
              <a:buNone/>
              <a:defRPr sz="9500">
                <a:solidFill>
                  <a:schemeClr val="tx1">
                    <a:tint val="75000"/>
                  </a:schemeClr>
                </a:solidFill>
              </a:defRPr>
            </a:lvl1pPr>
            <a:lvl2pPr marL="2159635" indent="0">
              <a:buNone/>
              <a:defRPr sz="8500">
                <a:solidFill>
                  <a:schemeClr val="tx1">
                    <a:tint val="75000"/>
                  </a:schemeClr>
                </a:solidFill>
              </a:defRPr>
            </a:lvl2pPr>
            <a:lvl3pPr marL="4319905" indent="0">
              <a:buNone/>
              <a:defRPr sz="7600">
                <a:solidFill>
                  <a:schemeClr val="tx1">
                    <a:tint val="75000"/>
                  </a:schemeClr>
                </a:solidFill>
              </a:defRPr>
            </a:lvl3pPr>
            <a:lvl4pPr marL="647954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4pPr>
            <a:lvl5pPr marL="863917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5pPr>
            <a:lvl6pPr marL="1079944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6pPr>
            <a:lvl7pPr marL="12959080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7pPr>
            <a:lvl8pPr marL="1511871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8pPr>
            <a:lvl9pPr marL="17278985" indent="0">
              <a:buNone/>
              <a:defRPr sz="6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227FD-2D5D-4278-8F15-0E483FE2EC43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76C4D-C133-4E51-A632-28D13FBF31F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5743846" y="63507947"/>
            <a:ext cx="51402048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7685960" y="63507947"/>
            <a:ext cx="51402051" cy="179642453"/>
          </a:xfrm>
        </p:spPr>
        <p:txBody>
          <a:bodyPr/>
          <a:lstStyle>
            <a:lvl1pPr>
              <a:defRPr sz="13200"/>
            </a:lvl1pPr>
            <a:lvl2pPr>
              <a:defRPr sz="11300"/>
            </a:lvl2pPr>
            <a:lvl3pPr>
              <a:defRPr sz="9500"/>
            </a:lvl3pPr>
            <a:lvl4pPr>
              <a:defRPr sz="8500"/>
            </a:lvl4pPr>
            <a:lvl5pPr>
              <a:defRPr sz="8500"/>
            </a:lvl5pPr>
            <a:lvl6pPr>
              <a:defRPr sz="8500"/>
            </a:lvl6pPr>
            <a:lvl7pPr>
              <a:defRPr sz="8500"/>
            </a:lvl7pPr>
            <a:lvl8pPr>
              <a:defRPr sz="8500"/>
            </a:lvl8pPr>
            <a:lvl9pPr>
              <a:defRPr sz="8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52793D-877F-4D63-AA58-5607ED782E45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217B76-1F3E-499F-AB60-DDC0876F818F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20203" y="1730219"/>
            <a:ext cx="29163645" cy="72009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620203" y="9671212"/>
            <a:ext cx="14317416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35" indent="0">
              <a:buNone/>
              <a:defRPr sz="9500" b="1"/>
            </a:lvl2pPr>
            <a:lvl3pPr marL="4319905" indent="0">
              <a:buNone/>
              <a:defRPr sz="8500" b="1"/>
            </a:lvl3pPr>
            <a:lvl4pPr marL="6479540" indent="0">
              <a:buNone/>
              <a:defRPr sz="7600" b="1"/>
            </a:lvl4pPr>
            <a:lvl5pPr marL="8639175" indent="0">
              <a:buNone/>
              <a:defRPr sz="7600" b="1"/>
            </a:lvl5pPr>
            <a:lvl6pPr marL="10799445" indent="0">
              <a:buNone/>
              <a:defRPr sz="7600" b="1"/>
            </a:lvl6pPr>
            <a:lvl7pPr marL="12959080" indent="0">
              <a:buNone/>
              <a:defRPr sz="7600" b="1"/>
            </a:lvl7pPr>
            <a:lvl8pPr marL="15118715" indent="0">
              <a:buNone/>
              <a:defRPr sz="7600" b="1"/>
            </a:lvl8pPr>
            <a:lvl9pPr marL="17278985" indent="0">
              <a:buNone/>
              <a:defRPr sz="7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620203" y="13701713"/>
            <a:ext cx="14317416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16460809" y="9671212"/>
            <a:ext cx="14323040" cy="4030501"/>
          </a:xfrm>
        </p:spPr>
        <p:txBody>
          <a:bodyPr anchor="b"/>
          <a:lstStyle>
            <a:lvl1pPr marL="0" indent="0">
              <a:buNone/>
              <a:defRPr sz="11300" b="1"/>
            </a:lvl1pPr>
            <a:lvl2pPr marL="2159635" indent="0">
              <a:buNone/>
              <a:defRPr sz="9500" b="1"/>
            </a:lvl2pPr>
            <a:lvl3pPr marL="4319905" indent="0">
              <a:buNone/>
              <a:defRPr sz="8500" b="1"/>
            </a:lvl3pPr>
            <a:lvl4pPr marL="6479540" indent="0">
              <a:buNone/>
              <a:defRPr sz="7600" b="1"/>
            </a:lvl4pPr>
            <a:lvl5pPr marL="8639175" indent="0">
              <a:buNone/>
              <a:defRPr sz="7600" b="1"/>
            </a:lvl5pPr>
            <a:lvl6pPr marL="10799445" indent="0">
              <a:buNone/>
              <a:defRPr sz="7600" b="1"/>
            </a:lvl6pPr>
            <a:lvl7pPr marL="12959080" indent="0">
              <a:buNone/>
              <a:defRPr sz="7600" b="1"/>
            </a:lvl7pPr>
            <a:lvl8pPr marL="15118715" indent="0">
              <a:buNone/>
              <a:defRPr sz="7600" b="1"/>
            </a:lvl8pPr>
            <a:lvl9pPr marL="17278985" indent="0">
              <a:buNone/>
              <a:defRPr sz="7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16460809" y="13701713"/>
            <a:ext cx="14323040" cy="24893114"/>
          </a:xfrm>
        </p:spPr>
        <p:txBody>
          <a:bodyPr/>
          <a:lstStyle>
            <a:lvl1pPr>
              <a:defRPr sz="11300"/>
            </a:lvl1pPr>
            <a:lvl2pPr>
              <a:defRPr sz="9500"/>
            </a:lvl2pPr>
            <a:lvl3pPr>
              <a:defRPr sz="8500"/>
            </a:lvl3pPr>
            <a:lvl4pPr>
              <a:defRPr sz="7600"/>
            </a:lvl4pPr>
            <a:lvl5pPr>
              <a:defRPr sz="7600"/>
            </a:lvl5pPr>
            <a:lvl6pPr>
              <a:defRPr sz="7600"/>
            </a:lvl6pPr>
            <a:lvl7pPr>
              <a:defRPr sz="7600"/>
            </a:lvl7pPr>
            <a:lvl8pPr>
              <a:defRPr sz="7600"/>
            </a:lvl8pPr>
            <a:lvl9pPr>
              <a:defRPr sz="7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4B865E-3EBC-4265-B375-EEF8F6FBC1A2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8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9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D5B295-96E2-4D59-BC92-D7EED529F207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C77728-1E53-4CEC-98BE-EDFDF33A066A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CC76D9-17D6-402F-B7E6-18B8F83E8A38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EFA4B-8D63-4C75-8413-34904A565DF0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3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4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E7F4DC-DA64-479F-8B6C-86875906CC5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620208" y="1720215"/>
            <a:ext cx="10660709" cy="7320915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12669083" y="1720218"/>
            <a:ext cx="18114764" cy="36874612"/>
          </a:xfrm>
        </p:spPr>
        <p:txBody>
          <a:bodyPr/>
          <a:lstStyle>
            <a:lvl1pPr>
              <a:defRPr sz="15100"/>
            </a:lvl1pPr>
            <a:lvl2pPr>
              <a:defRPr sz="13200"/>
            </a:lvl2pPr>
            <a:lvl3pPr>
              <a:defRPr sz="11300"/>
            </a:lvl3pPr>
            <a:lvl4pPr>
              <a:defRPr sz="9500"/>
            </a:lvl4pPr>
            <a:lvl5pPr>
              <a:defRPr sz="9500"/>
            </a:lvl5pPr>
            <a:lvl6pPr>
              <a:defRPr sz="9500"/>
            </a:lvl6pPr>
            <a:lvl7pPr>
              <a:defRPr sz="9500"/>
            </a:lvl7pPr>
            <a:lvl8pPr>
              <a:defRPr sz="9500"/>
            </a:lvl8pPr>
            <a:lvl9pPr>
              <a:defRPr sz="95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620208" y="9041139"/>
            <a:ext cx="10660709" cy="29553697"/>
          </a:xfrm>
        </p:spPr>
        <p:txBody>
          <a:bodyPr/>
          <a:lstStyle>
            <a:lvl1pPr marL="0" indent="0">
              <a:buNone/>
              <a:defRPr sz="6600"/>
            </a:lvl1pPr>
            <a:lvl2pPr marL="2159635" indent="0">
              <a:buNone/>
              <a:defRPr sz="5700"/>
            </a:lvl2pPr>
            <a:lvl3pPr marL="4319905" indent="0">
              <a:buNone/>
              <a:defRPr sz="4700"/>
            </a:lvl3pPr>
            <a:lvl4pPr marL="6479540" indent="0">
              <a:buNone/>
              <a:defRPr sz="4300"/>
            </a:lvl4pPr>
            <a:lvl5pPr marL="8639175" indent="0">
              <a:buNone/>
              <a:defRPr sz="4300"/>
            </a:lvl5pPr>
            <a:lvl6pPr marL="10799445" indent="0">
              <a:buNone/>
              <a:defRPr sz="4300"/>
            </a:lvl6pPr>
            <a:lvl7pPr marL="12959080" indent="0">
              <a:buNone/>
              <a:defRPr sz="4300"/>
            </a:lvl7pPr>
            <a:lvl8pPr marL="15118715" indent="0">
              <a:buNone/>
              <a:defRPr sz="4300"/>
            </a:lvl8pPr>
            <a:lvl9pPr marL="17278985" indent="0">
              <a:buNone/>
              <a:defRPr sz="43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3DAC36-816A-41A8-B2AA-21E73DA6278B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FCB8AF-A0A4-4F7E-B331-B81124D4BECD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6351421" y="30243780"/>
            <a:ext cx="19442430" cy="3570449"/>
          </a:xfrm>
        </p:spPr>
        <p:txBody>
          <a:bodyPr anchor="b"/>
          <a:lstStyle>
            <a:lvl1pPr algn="l">
              <a:defRPr sz="95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6351421" y="3860483"/>
            <a:ext cx="19442430" cy="25923240"/>
          </a:xfrm>
        </p:spPr>
        <p:txBody>
          <a:bodyPr rtlCol="0">
            <a:normAutofit/>
          </a:bodyPr>
          <a:lstStyle>
            <a:lvl1pPr marL="0" indent="0">
              <a:buNone/>
              <a:defRPr sz="15100"/>
            </a:lvl1pPr>
            <a:lvl2pPr marL="2159635" indent="0">
              <a:buNone/>
              <a:defRPr sz="13200"/>
            </a:lvl2pPr>
            <a:lvl3pPr marL="4319905" indent="0">
              <a:buNone/>
              <a:defRPr sz="11300"/>
            </a:lvl3pPr>
            <a:lvl4pPr marL="6479540" indent="0">
              <a:buNone/>
              <a:defRPr sz="9500"/>
            </a:lvl4pPr>
            <a:lvl5pPr marL="8639175" indent="0">
              <a:buNone/>
              <a:defRPr sz="9500"/>
            </a:lvl5pPr>
            <a:lvl6pPr marL="10799445" indent="0">
              <a:buNone/>
              <a:defRPr sz="9500"/>
            </a:lvl6pPr>
            <a:lvl7pPr marL="12959080" indent="0">
              <a:buNone/>
              <a:defRPr sz="9500"/>
            </a:lvl7pPr>
            <a:lvl8pPr marL="15118715" indent="0">
              <a:buNone/>
              <a:defRPr sz="9500"/>
            </a:lvl8pPr>
            <a:lvl9pPr marL="17278985" indent="0">
              <a:buNone/>
              <a:defRPr sz="95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6351421" y="33814229"/>
            <a:ext cx="19442430" cy="5070631"/>
          </a:xfrm>
        </p:spPr>
        <p:txBody>
          <a:bodyPr/>
          <a:lstStyle>
            <a:lvl1pPr marL="0" indent="0">
              <a:buNone/>
              <a:defRPr sz="6600"/>
            </a:lvl1pPr>
            <a:lvl2pPr marL="2159635" indent="0">
              <a:buNone/>
              <a:defRPr sz="5700"/>
            </a:lvl2pPr>
            <a:lvl3pPr marL="4319905" indent="0">
              <a:buNone/>
              <a:defRPr sz="4700"/>
            </a:lvl3pPr>
            <a:lvl4pPr marL="6479540" indent="0">
              <a:buNone/>
              <a:defRPr sz="4300"/>
            </a:lvl4pPr>
            <a:lvl5pPr marL="8639175" indent="0">
              <a:buNone/>
              <a:defRPr sz="4300"/>
            </a:lvl5pPr>
            <a:lvl6pPr marL="10799445" indent="0">
              <a:buNone/>
              <a:defRPr sz="4300"/>
            </a:lvl6pPr>
            <a:lvl7pPr marL="12959080" indent="0">
              <a:buNone/>
              <a:defRPr sz="4300"/>
            </a:lvl7pPr>
            <a:lvl8pPr marL="15118715" indent="0">
              <a:buNone/>
              <a:defRPr sz="4300"/>
            </a:lvl8pPr>
            <a:lvl9pPr marL="17278985" indent="0">
              <a:buNone/>
              <a:defRPr sz="43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CE69EE-2AF6-4968-84E0-1B7AF7E95915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E55D4-9C53-4FB9-95D7-8EF8556D1932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4EE6EC-1525-4423-A8D4-82B9DF5BF7ED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365D69-862D-4D89-B06B-C9F5F3FD2096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3254782" y="10901365"/>
            <a:ext cx="25833229" cy="232249028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5743850" y="10901365"/>
            <a:ext cx="76970870" cy="232249028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F35B1-1408-4DD7-84DE-79FAEF80B932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E05A92-552F-46A8-BEA5-97C48A893E43}" type="slidenum">
              <a:rPr lang="pt-BR" altLang="pt-BR"/>
              <a:t>‹nº›</a:t>
            </a:fld>
            <a:endParaRPr lang="pt-BR" alt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53000">
              <a:srgbClr val="F7FAF2">
                <a:alpha val="0"/>
              </a:srgbClr>
            </a:gs>
            <a:gs pos="74380">
              <a:srgbClr val="DDE8C6"/>
            </a:gs>
            <a:gs pos="28126">
              <a:srgbClr val="FFFFFF"/>
            </a:gs>
            <a:gs pos="18750">
              <a:schemeClr val="bg1"/>
            </a:gs>
            <a:gs pos="39000">
              <a:schemeClr val="bg1"/>
            </a:gs>
            <a:gs pos="100000">
              <a:schemeClr val="accent3">
                <a:lumMod val="60000"/>
                <a:lumOff val="40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1620838" y="1730375"/>
            <a:ext cx="29162375" cy="7200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1620838" y="10080625"/>
            <a:ext cx="29162375" cy="285146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t" anchorCtr="0" compatLnSpc="1"/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 bwMode="auto">
          <a:xfrm>
            <a:off x="1620838" y="40044688"/>
            <a:ext cx="7559675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FC6A291B-ECA8-4045-8E11-DF4FD6062A15}" type="datetimeFigureOut">
              <a:rPr lang="pt-BR" altLang="pt-BR"/>
              <a:t>25/09/2026</a:t>
            </a:fld>
            <a:endParaRPr lang="pt-BR" alt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 bwMode="auto">
          <a:xfrm>
            <a:off x="11071225" y="40044688"/>
            <a:ext cx="10261600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 algn="ctr"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pt-BR" alt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 bwMode="auto">
          <a:xfrm>
            <a:off x="23223538" y="40044688"/>
            <a:ext cx="7559675" cy="2300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431974" tIns="215984" rIns="431974" bIns="215984" numCol="1" anchor="ctr" anchorCtr="0" compatLnSpc="1"/>
          <a:lstStyle>
            <a:lvl1pPr algn="r">
              <a:defRPr sz="57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E7E2F019-5AF5-4F09-9CEE-D55816ED1147}" type="slidenum">
              <a:rPr lang="pt-BR" altLang="pt-BR"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19905" rtl="0" eaLnBrk="0" fontAlgn="base" hangingPunct="0">
        <a:spcBef>
          <a:spcPct val="0"/>
        </a:spcBef>
        <a:spcAft>
          <a:spcPct val="0"/>
        </a:spcAft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2pPr>
      <a:lvl3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3pPr>
      <a:lvl4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4pPr>
      <a:lvl5pPr algn="ctr" defTabSz="4319905" rtl="0" eaLnBrk="0" fontAlgn="base" hangingPunct="0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5pPr>
      <a:lvl6pPr marL="4572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6pPr>
      <a:lvl7pPr marL="9144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7pPr>
      <a:lvl8pPr marL="13716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8pPr>
      <a:lvl9pPr marL="1828800" algn="ctr" defTabSz="4319905" rtl="0" fontAlgn="base">
        <a:spcBef>
          <a:spcPct val="0"/>
        </a:spcBef>
        <a:spcAft>
          <a:spcPct val="0"/>
        </a:spcAft>
        <a:defRPr sz="208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1617980" indent="-161798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07105" indent="-1348105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399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58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17405" indent="-1078230" algn="l" defTabSz="4319905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78945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39215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198850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59120" indent="-1080135" algn="l" defTabSz="4319905" rtl="0" eaLnBrk="1" latinLnBrk="0" hangingPunct="1">
        <a:spcBef>
          <a:spcPct val="20000"/>
        </a:spcBef>
        <a:buFont typeface="Arial" panose="020B0604020202020204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5963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1990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7954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3917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79944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59080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1871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78985" algn="l" defTabSz="4319905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ext Box 6"/>
          <p:cNvSpPr txBox="1">
            <a:spLocks noChangeArrowheads="1"/>
          </p:cNvSpPr>
          <p:nvPr/>
        </p:nvSpPr>
        <p:spPr bwMode="auto">
          <a:xfrm>
            <a:off x="869061" y="7858059"/>
            <a:ext cx="14815414" cy="8865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Instituições de ensino brasileiras costumam depender de múltiplos sistemas isolados para tarefas interdependentes, como diário de classe, comunicados aos responsáveis e controle de tarefas e provas. Essa fragmentação dificulta o acompanhamento integrado do desempenho e da rotina escolar.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Soluções já consolidadas, como Google Classroom e Moodle, cobrem parcialmente a organização de atividades, mas concentram-se pouco na comunicação institucional em tempo real e não oferecem apoio personalizado ao estudo.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O objetivo deste trabalho é apresentar o desenvolvimento do Ecossistema Escolar, uma plataforma digital que integra gestão acadêmica, comunicação institucional em tempo real e recursos de inteligência artificial generativa para apoio ao estudo.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920070" y="7079011"/>
            <a:ext cx="14559135" cy="808038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INTRODUÇÃO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936280" y="17098113"/>
            <a:ext cx="14608432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METODOLOGIA</a:t>
            </a:r>
          </a:p>
        </p:txBody>
      </p:sp>
      <p:sp>
        <p:nvSpPr>
          <p:cNvPr id="2059" name="Text Box 11"/>
          <p:cNvSpPr txBox="1">
            <a:spLocks noChangeArrowheads="1"/>
          </p:cNvSpPr>
          <p:nvPr/>
        </p:nvSpPr>
        <p:spPr bwMode="auto">
          <a:xfrm>
            <a:off x="956709" y="34539303"/>
            <a:ext cx="14567574" cy="808038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RESULTADOS</a:t>
            </a:r>
          </a:p>
        </p:txBody>
      </p:sp>
      <p:sp>
        <p:nvSpPr>
          <p:cNvPr id="2186" name="Text Box 138"/>
          <p:cNvSpPr txBox="1">
            <a:spLocks noChangeArrowheads="1"/>
          </p:cNvSpPr>
          <p:nvPr/>
        </p:nvSpPr>
        <p:spPr bwMode="auto">
          <a:xfrm>
            <a:off x="16479846" y="28855243"/>
            <a:ext cx="14693210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CONCLUSÕES</a:t>
            </a:r>
          </a:p>
        </p:txBody>
      </p:sp>
      <p:sp>
        <p:nvSpPr>
          <p:cNvPr id="4" name="Text Box 139"/>
          <p:cNvSpPr txBox="1">
            <a:spLocks noChangeArrowheads="1"/>
          </p:cNvSpPr>
          <p:nvPr/>
        </p:nvSpPr>
        <p:spPr bwMode="auto">
          <a:xfrm>
            <a:off x="16479845" y="29736844"/>
            <a:ext cx="14693211" cy="369437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O sistema desenvolvido atende ao problema de fragmentação identificado, integrando organização acadêmica, comunicação escolar e apoio aos estudos em um único ambiente digital. Como trabalhos futuros, recomenda-se a ampliação dos recursos de inteligência artificial e a realização de testes formais de desempenho e usabilidade com os usuários finais.</a:t>
            </a:r>
          </a:p>
        </p:txBody>
      </p:sp>
      <p:sp>
        <p:nvSpPr>
          <p:cNvPr id="5" name="Rectangle 21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57" name="Rectangle 23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58" name="Rectangle 25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6" name="Rectangle 19"/>
          <p:cNvSpPr>
            <a:spLocks noChangeArrowheads="1"/>
          </p:cNvSpPr>
          <p:nvPr/>
        </p:nvSpPr>
        <p:spPr bwMode="auto">
          <a:xfrm>
            <a:off x="0" y="-700088"/>
            <a:ext cx="184150" cy="140017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lIns="91424" tIns="45710" rIns="91424" bIns="45710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60" name="CaixaDeTexto 26"/>
          <p:cNvSpPr txBox="1">
            <a:spLocks noChangeArrowheads="1"/>
          </p:cNvSpPr>
          <p:nvPr/>
        </p:nvSpPr>
        <p:spPr bwMode="auto">
          <a:xfrm>
            <a:off x="825609" y="18336104"/>
            <a:ext cx="14858865" cy="738770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24" tIns="45710" rIns="91424" bIns="4571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O sistema foi desenvolvido em TypeScript, com back-end em Node.js seguindo o padrão MVC, e banco de dados relacional MySQL. A comunicação em tempo real utiliza WebSocket, e o envio de avisos é feito via Evolution API, integrada ao WhatsApp.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A segurança e a proteção de dados pessoais foram tratadas como parte da arquitetura: autenticação por JWT, senhas em hash (bcrypt), identificadores não sensíveis (GUID) em vez de CPF, e acesso escopado por escola e função, em diálogo com a LGPD (Lei nº 13.709/2018).</a:t>
            </a:r>
          </a:p>
          <a:p>
            <a:pPr algn="just">
              <a:lnSpc>
                <a:spcPct val="150000"/>
              </a:lnSpc>
            </a:pPr>
            <a:endParaRPr lang="pt-BR" sz="3200" dirty="0"/>
          </a:p>
          <a:p>
            <a:pPr algn="just">
              <a:lnSpc>
                <a:spcPct val="150000"/>
              </a:lnSpc>
            </a:pPr>
            <a:endParaRPr lang="pt-BR" sz="3200" dirty="0"/>
          </a:p>
        </p:txBody>
      </p:sp>
      <p:sp>
        <p:nvSpPr>
          <p:cNvPr id="2064" name="Text Box 5"/>
          <p:cNvSpPr txBox="1">
            <a:spLocks noChangeArrowheads="1"/>
          </p:cNvSpPr>
          <p:nvPr/>
        </p:nvSpPr>
        <p:spPr bwMode="auto">
          <a:xfrm>
            <a:off x="1657178" y="4769053"/>
            <a:ext cx="29451272" cy="1936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algn="ctr"/>
            <a:r>
              <a:rPr lang="pt-BR" sz="4000" b="1" i="1" dirty="0"/>
              <a:t>Eduardo Tagliamento Barbosa, Henrique Cruz Dallatorre, Vithor Maximus Borges Queiroz, Alberson Wander Sá dos Santos, Hélio Lourenço Esperidião Ferreira.</a:t>
            </a:r>
            <a:endParaRPr lang="pt-BR" sz="4000" dirty="0"/>
          </a:p>
          <a:p>
            <a:pPr algn="ctr"/>
            <a:r>
              <a:rPr lang="pt-BR" sz="4000" dirty="0"/>
              <a:t>  </a:t>
            </a:r>
          </a:p>
        </p:txBody>
      </p:sp>
      <p:sp>
        <p:nvSpPr>
          <p:cNvPr id="2065" name="Rectangle 29"/>
          <p:cNvSpPr>
            <a:spLocks noChangeArrowheads="1"/>
          </p:cNvSpPr>
          <p:nvPr/>
        </p:nvSpPr>
        <p:spPr bwMode="auto">
          <a:xfrm>
            <a:off x="0" y="6122160"/>
            <a:ext cx="32404050" cy="504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73209" tIns="36605" rIns="73209" bIns="36605">
            <a:spAutoFit/>
          </a:bodyPr>
          <a:lstStyle/>
          <a:p>
            <a:pPr algn="ctr" defTabSz="4318000"/>
            <a:r>
              <a:rPr lang="pt-BR" altLang="pt-BR" sz="2800" dirty="0"/>
              <a:t>Colégio Técnico Antônio Teixeira Fernandes, Fundação Valeparaibana de Ensino, Curso Técnico em Informática, Brasil, São José dos Campos, SP, 12245-020</a:t>
            </a:r>
          </a:p>
        </p:txBody>
      </p:sp>
      <p:sp>
        <p:nvSpPr>
          <p:cNvPr id="3" name="Text Box 138"/>
          <p:cNvSpPr txBox="1">
            <a:spLocks noChangeArrowheads="1"/>
          </p:cNvSpPr>
          <p:nvPr/>
        </p:nvSpPr>
        <p:spPr bwMode="auto">
          <a:xfrm>
            <a:off x="16519144" y="33786554"/>
            <a:ext cx="14693210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REFERÊNCIAS</a:t>
            </a:r>
          </a:p>
        </p:txBody>
      </p:sp>
      <p:sp>
        <p:nvSpPr>
          <p:cNvPr id="2068" name="Text Box 139"/>
          <p:cNvSpPr txBox="1">
            <a:spLocks noChangeArrowheads="1"/>
          </p:cNvSpPr>
          <p:nvPr/>
        </p:nvSpPr>
        <p:spPr bwMode="auto">
          <a:xfrm>
            <a:off x="16135603" y="34763629"/>
            <a:ext cx="15098565" cy="60623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>
            <a:spAutoFit/>
          </a:bodyPr>
          <a:lstStyle/>
          <a:p>
            <a:pPr marL="302262" lvl="1" indent="0" algn="just">
              <a:lnSpc>
                <a:spcPts val="3920"/>
              </a:lnSpc>
            </a:pP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CHERNY, B. Programming TypeScript: making your JavaScript applications scale. Sebastopol: O'Reilly Media, 2019.</a:t>
            </a:r>
          </a:p>
          <a:p>
            <a:pPr marL="302262" lvl="1" indent="0" algn="just">
              <a:lnSpc>
                <a:spcPts val="3920"/>
              </a:lnSpc>
            </a:pP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EVOLUTION API. Evolution API. [20--].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Disponível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https://docs.evolutionfoundation.com.br/evolution-api.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Acesso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24 jun. 2026.</a:t>
            </a:r>
          </a:p>
          <a:p>
            <a:pPr marL="302262" lvl="1" indent="0" algn="just">
              <a:lnSpc>
                <a:spcPts val="3920"/>
              </a:lnSpc>
            </a:pP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FETTE, I.; MELNIKOV, A. The WebSocket Protocol. RFC 6455. IETF, 2011.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Disponível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https://datatracker.ietf.org/doc/html/rfc6455.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Acesso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24 jun. 2026.</a:t>
            </a:r>
          </a:p>
          <a:p>
            <a:pPr marL="302262" lvl="1" indent="0" algn="just">
              <a:lnSpc>
                <a:spcPts val="3920"/>
              </a:lnSpc>
            </a:pP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RAILWAY. Railway. [20--].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Disponível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https://railway.com.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Acesso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24 jun. 2026.</a:t>
            </a:r>
          </a:p>
          <a:p>
            <a:pPr marL="302262" lvl="1" indent="0" algn="just">
              <a:lnSpc>
                <a:spcPts val="3920"/>
              </a:lnSpc>
            </a:pP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ZARDO, H.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Introdução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padrão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MVC.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DevMedia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, 2013.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Disponível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https://www.devmedia.com.br/introducao-ao-padrao-mvc/29308.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Acesso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 </a:t>
            </a:r>
            <a:r>
              <a:rPr lang="en-US" sz="3200" dirty="0" err="1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em</a:t>
            </a:r>
            <a:r>
              <a:rPr lang="en-US" sz="3200" dirty="0">
                <a:solidFill>
                  <a:srgbClr val="000000"/>
                </a:solidFill>
                <a:latin typeface="Arial MT Pro"/>
                <a:ea typeface="Arial MT Pro"/>
                <a:cs typeface="Arial MT Pro"/>
                <a:sym typeface="Arial MT Pro"/>
              </a:rPr>
              <a:t>: 10 abr. 2026.</a:t>
            </a:r>
          </a:p>
        </p:txBody>
      </p:sp>
      <p:sp>
        <p:nvSpPr>
          <p:cNvPr id="2070" name="Rectangle 27"/>
          <p:cNvSpPr>
            <a:spLocks noChangeArrowheads="1"/>
          </p:cNvSpPr>
          <p:nvPr/>
        </p:nvSpPr>
        <p:spPr bwMode="auto">
          <a:xfrm>
            <a:off x="825609" y="35634652"/>
            <a:ext cx="14858865" cy="689525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5" tIns="45705" rIns="91415" bIns="45705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pt-BR" sz="3200" dirty="0"/>
              <a:t>	</a:t>
            </a:r>
            <a:r>
              <a:rPr lang="en-US" sz="4000" dirty="0"/>
              <a:t>O </a:t>
            </a:r>
            <a:r>
              <a:rPr lang="en-US" sz="4000" dirty="0" err="1"/>
              <a:t>desenvolvimento</a:t>
            </a:r>
            <a:r>
              <a:rPr lang="en-US" sz="4000" dirty="0"/>
              <a:t> do </a:t>
            </a:r>
            <a:r>
              <a:rPr lang="en-US" sz="4000" dirty="0" err="1"/>
              <a:t>Ecossistema</a:t>
            </a:r>
            <a:r>
              <a:rPr lang="en-US" sz="4000" dirty="0"/>
              <a:t> Escolar </a:t>
            </a:r>
            <a:r>
              <a:rPr lang="en-US" sz="4000" dirty="0" err="1"/>
              <a:t>permitiu</a:t>
            </a:r>
            <a:r>
              <a:rPr lang="en-US" sz="4000" dirty="0"/>
              <a:t> </a:t>
            </a:r>
            <a:r>
              <a:rPr lang="en-US" sz="4000" dirty="0" err="1"/>
              <a:t>alcançar</a:t>
            </a:r>
            <a:r>
              <a:rPr lang="en-US" sz="4000" dirty="0"/>
              <a:t> </a:t>
            </a:r>
            <a:r>
              <a:rPr lang="en-US" sz="4000" dirty="0" err="1"/>
              <a:t>os</a:t>
            </a:r>
            <a:r>
              <a:rPr lang="en-US" sz="4000" dirty="0"/>
              <a:t> </a:t>
            </a:r>
            <a:r>
              <a:rPr lang="en-US" sz="4000" dirty="0" err="1"/>
              <a:t>objetivos</a:t>
            </a:r>
            <a:r>
              <a:rPr lang="en-US" sz="4000" dirty="0"/>
              <a:t> </a:t>
            </a:r>
            <a:r>
              <a:rPr lang="en-US" sz="4000" dirty="0" err="1"/>
              <a:t>inicialmente</a:t>
            </a:r>
            <a:r>
              <a:rPr lang="en-US" sz="4000" dirty="0"/>
              <a:t> </a:t>
            </a:r>
            <a:r>
              <a:rPr lang="en-US" sz="4000" dirty="0" err="1"/>
              <a:t>propostos</a:t>
            </a:r>
            <a:r>
              <a:rPr lang="en-US" sz="4000" dirty="0"/>
              <a:t>, </a:t>
            </a:r>
            <a:r>
              <a:rPr lang="en-US" sz="4000" dirty="0" err="1"/>
              <a:t>sendo</a:t>
            </a:r>
            <a:r>
              <a:rPr lang="en-US" sz="4000" dirty="0"/>
              <a:t>, </a:t>
            </a:r>
            <a:r>
              <a:rPr lang="en-US" sz="4000" dirty="0" err="1"/>
              <a:t>em</a:t>
            </a:r>
            <a:r>
              <a:rPr lang="en-US" sz="4000" dirty="0"/>
              <a:t> </a:t>
            </a:r>
            <a:r>
              <a:rPr lang="en-US" sz="4000" dirty="0" err="1"/>
              <a:t>diversos</a:t>
            </a:r>
            <a:r>
              <a:rPr lang="en-US" sz="4000" dirty="0"/>
              <a:t> aspectos, </a:t>
            </a:r>
            <a:r>
              <a:rPr lang="en-US" sz="4000" dirty="0" err="1"/>
              <a:t>ampliado</a:t>
            </a:r>
            <a:r>
              <a:rPr lang="en-US" sz="4000" dirty="0"/>
              <a:t> </a:t>
            </a:r>
            <a:r>
              <a:rPr lang="en-US" sz="4000" dirty="0" err="1"/>
              <a:t>ao</a:t>
            </a:r>
            <a:r>
              <a:rPr lang="en-US" sz="4000" dirty="0"/>
              <a:t> </a:t>
            </a:r>
            <a:r>
              <a:rPr lang="en-US" sz="4000" dirty="0" err="1"/>
              <a:t>longo</a:t>
            </a:r>
            <a:r>
              <a:rPr lang="en-US" sz="4000" dirty="0"/>
              <a:t> da </a:t>
            </a:r>
            <a:r>
              <a:rPr lang="en-US" sz="4000" dirty="0" err="1"/>
              <a:t>execução</a:t>
            </a:r>
            <a:r>
              <a:rPr lang="en-US" sz="4000" dirty="0"/>
              <a:t> do </a:t>
            </a:r>
            <a:r>
              <a:rPr lang="en-US" sz="4000" dirty="0" err="1"/>
              <a:t>projeto</a:t>
            </a:r>
            <a:r>
              <a:rPr lang="en-US" sz="4000" dirty="0"/>
              <a:t>. A </a:t>
            </a:r>
            <a:r>
              <a:rPr lang="en-US" sz="4000" dirty="0" err="1"/>
              <a:t>proposta</a:t>
            </a:r>
            <a:r>
              <a:rPr lang="en-US" sz="4000" dirty="0"/>
              <a:t> </a:t>
            </a:r>
            <a:r>
              <a:rPr lang="en-US" sz="4000" dirty="0" err="1"/>
              <a:t>inicial</a:t>
            </a:r>
            <a:r>
              <a:rPr lang="en-US" sz="4000" dirty="0"/>
              <a:t> </a:t>
            </a:r>
            <a:r>
              <a:rPr lang="en-US" sz="4000" dirty="0" err="1"/>
              <a:t>estava</a:t>
            </a:r>
            <a:r>
              <a:rPr lang="en-US" sz="4000" dirty="0"/>
              <a:t> </a:t>
            </a:r>
            <a:r>
              <a:rPr lang="en-US" sz="4000" dirty="0" err="1"/>
              <a:t>voltada</a:t>
            </a:r>
            <a:r>
              <a:rPr lang="en-US" sz="4000" dirty="0"/>
              <a:t> </a:t>
            </a:r>
            <a:r>
              <a:rPr lang="en-US" sz="4000" dirty="0" err="1"/>
              <a:t>principalmente</a:t>
            </a:r>
            <a:r>
              <a:rPr lang="en-US" sz="4000" dirty="0"/>
              <a:t> </a:t>
            </a:r>
            <a:r>
              <a:rPr lang="en-US" sz="4000" dirty="0" err="1"/>
              <a:t>ao</a:t>
            </a:r>
            <a:r>
              <a:rPr lang="en-US" sz="4000" dirty="0"/>
              <a:t> </a:t>
            </a:r>
            <a:r>
              <a:rPr lang="en-US" sz="4000" dirty="0" err="1"/>
              <a:t>controle</a:t>
            </a:r>
            <a:r>
              <a:rPr lang="en-US" sz="4000" dirty="0"/>
              <a:t> de </a:t>
            </a:r>
            <a:r>
              <a:rPr lang="en-US" sz="4000" dirty="0" err="1"/>
              <a:t>avisos</a:t>
            </a:r>
            <a:r>
              <a:rPr lang="en-US" sz="4000" dirty="0"/>
              <a:t> </a:t>
            </a:r>
            <a:r>
              <a:rPr lang="en-US" sz="4000" dirty="0" err="1"/>
              <a:t>institucionais</a:t>
            </a:r>
            <a:r>
              <a:rPr lang="en-US" sz="4000" dirty="0"/>
              <a:t> e </a:t>
            </a:r>
            <a:r>
              <a:rPr lang="en-US" sz="4000" dirty="0" err="1"/>
              <a:t>ao</a:t>
            </a:r>
            <a:r>
              <a:rPr lang="en-US" sz="4000" dirty="0"/>
              <a:t> </a:t>
            </a:r>
            <a:r>
              <a:rPr lang="en-US" sz="4000" dirty="0" err="1"/>
              <a:t>acompanhamento</a:t>
            </a:r>
            <a:r>
              <a:rPr lang="en-US" sz="4000" dirty="0"/>
              <a:t> de </a:t>
            </a:r>
            <a:r>
              <a:rPr lang="en-US" sz="4000" dirty="0" err="1"/>
              <a:t>atividades</a:t>
            </a:r>
            <a:r>
              <a:rPr lang="en-US" sz="4000" dirty="0"/>
              <a:t> </a:t>
            </a:r>
            <a:r>
              <a:rPr lang="en-US" sz="4000" dirty="0" err="1"/>
              <a:t>acadêmicas</a:t>
            </a:r>
            <a:r>
              <a:rPr lang="en-US" sz="4000" dirty="0"/>
              <a:t>; </a:t>
            </a:r>
            <a:r>
              <a:rPr lang="en-US" sz="4000" dirty="0" err="1"/>
              <a:t>contudo</a:t>
            </a:r>
            <a:r>
              <a:rPr lang="en-US" sz="4000" dirty="0"/>
              <a:t>, </a:t>
            </a:r>
            <a:r>
              <a:rPr lang="en-US" sz="4000" dirty="0" err="1"/>
              <a:t>durante</a:t>
            </a:r>
            <a:r>
              <a:rPr lang="en-US" sz="4000" dirty="0"/>
              <a:t> a </a:t>
            </a:r>
            <a:r>
              <a:rPr lang="en-US" sz="4000" dirty="0" err="1"/>
              <a:t>análise</a:t>
            </a:r>
            <a:r>
              <a:rPr lang="en-US" sz="4000" dirty="0"/>
              <a:t>, a </a:t>
            </a:r>
            <a:r>
              <a:rPr lang="en-US" sz="4000" dirty="0" err="1"/>
              <a:t>modelagem</a:t>
            </a:r>
            <a:r>
              <a:rPr lang="en-US" sz="4000" dirty="0"/>
              <a:t> e a </a:t>
            </a:r>
            <a:r>
              <a:rPr lang="en-US" sz="4000" dirty="0" err="1"/>
              <a:t>implementação</a:t>
            </a:r>
            <a:r>
              <a:rPr lang="en-US" sz="4000" dirty="0"/>
              <a:t>, o </a:t>
            </a:r>
            <a:r>
              <a:rPr lang="en-US" sz="4000" dirty="0" err="1"/>
              <a:t>escopo</a:t>
            </a:r>
            <a:r>
              <a:rPr lang="en-US" sz="4000" dirty="0"/>
              <a:t> </a:t>
            </a:r>
            <a:r>
              <a:rPr lang="en-US" sz="4000" dirty="0" err="1"/>
              <a:t>foi</a:t>
            </a:r>
            <a:r>
              <a:rPr lang="en-US" sz="4000" dirty="0"/>
              <a:t> </a:t>
            </a:r>
            <a:r>
              <a:rPr lang="en-US" sz="4000" dirty="0" err="1"/>
              <a:t>expandido</a:t>
            </a:r>
            <a:r>
              <a:rPr lang="en-US" sz="4000" dirty="0"/>
              <a:t> para </a:t>
            </a:r>
            <a:r>
              <a:rPr lang="en-US" sz="4000" dirty="0" err="1"/>
              <a:t>incorporar</a:t>
            </a:r>
            <a:r>
              <a:rPr lang="en-US" sz="4000" dirty="0"/>
              <a:t> </a:t>
            </a:r>
            <a:r>
              <a:rPr lang="en-US" sz="4000" dirty="0" err="1"/>
              <a:t>organização</a:t>
            </a:r>
            <a:r>
              <a:rPr lang="en-US" sz="4000" dirty="0"/>
              <a:t> </a:t>
            </a:r>
            <a:r>
              <a:rPr lang="en-US" sz="4000" dirty="0" err="1"/>
              <a:t>acadêmica</a:t>
            </a:r>
            <a:r>
              <a:rPr lang="en-US" sz="4000" dirty="0"/>
              <a:t>, </a:t>
            </a:r>
            <a:r>
              <a:rPr lang="en-US" sz="4000" dirty="0" err="1"/>
              <a:t>comunicação</a:t>
            </a:r>
            <a:r>
              <a:rPr lang="en-US" sz="4000" dirty="0"/>
              <a:t> entre </a:t>
            </a:r>
            <a:r>
              <a:rPr lang="en-US" sz="4000" dirty="0" err="1"/>
              <a:t>usuários</a:t>
            </a:r>
            <a:r>
              <a:rPr lang="en-US" sz="4000" dirty="0"/>
              <a:t>, </a:t>
            </a:r>
            <a:r>
              <a:rPr lang="en-US" sz="4000" dirty="0" err="1"/>
              <a:t>gerenciamento</a:t>
            </a:r>
            <a:r>
              <a:rPr lang="en-US" sz="4000" dirty="0"/>
              <a:t> de </a:t>
            </a:r>
            <a:r>
              <a:rPr lang="en-US" sz="4000" dirty="0" err="1"/>
              <a:t>grupos</a:t>
            </a:r>
            <a:r>
              <a:rPr lang="en-US" sz="4000" dirty="0"/>
              <a:t>, </a:t>
            </a:r>
            <a:r>
              <a:rPr lang="en-US" sz="4000" dirty="0" err="1"/>
              <a:t>notificações</a:t>
            </a:r>
            <a:r>
              <a:rPr lang="en-US" sz="4000" dirty="0"/>
              <a:t> </a:t>
            </a:r>
            <a:r>
              <a:rPr lang="en-US" sz="4000" dirty="0" err="1"/>
              <a:t>automatizadas</a:t>
            </a:r>
            <a:r>
              <a:rPr lang="en-US" sz="4000" dirty="0"/>
              <a:t> e </a:t>
            </a:r>
            <a:r>
              <a:rPr lang="en-US" sz="4000" dirty="0" err="1"/>
              <a:t>mecanismos</a:t>
            </a:r>
            <a:r>
              <a:rPr lang="en-US" sz="4000" dirty="0"/>
              <a:t> de </a:t>
            </a:r>
            <a:r>
              <a:rPr lang="en-US" sz="4000" dirty="0" err="1"/>
              <a:t>apoio</a:t>
            </a:r>
            <a:r>
              <a:rPr lang="en-US" sz="4000" dirty="0"/>
              <a:t> </a:t>
            </a:r>
            <a:r>
              <a:rPr lang="en-US" sz="4000" dirty="0" err="1"/>
              <a:t>aos</a:t>
            </a:r>
            <a:r>
              <a:rPr lang="en-US" sz="4000" dirty="0"/>
              <a:t> </a:t>
            </a:r>
            <a:r>
              <a:rPr lang="en-US" sz="4000" dirty="0" err="1"/>
              <a:t>estudos</a:t>
            </a:r>
            <a:r>
              <a:rPr lang="en-US" sz="4000" dirty="0"/>
              <a:t> </a:t>
            </a:r>
            <a:r>
              <a:rPr lang="en-US" sz="4000" dirty="0" err="1"/>
              <a:t>por</a:t>
            </a:r>
            <a:r>
              <a:rPr lang="en-US" sz="4000" dirty="0"/>
              <a:t> </a:t>
            </a:r>
            <a:r>
              <a:rPr lang="en-US" sz="4000" dirty="0" err="1"/>
              <a:t>inteligência</a:t>
            </a:r>
            <a:r>
              <a:rPr lang="en-US" sz="4000" dirty="0"/>
              <a:t> artificial.</a:t>
            </a:r>
            <a:endParaRPr lang="pt-BR" sz="4000" dirty="0"/>
          </a:p>
          <a:p>
            <a:pPr algn="just">
              <a:lnSpc>
                <a:spcPct val="150000"/>
              </a:lnSpc>
            </a:pPr>
            <a:endParaRPr lang="pt-BR" sz="3200" dirty="0"/>
          </a:p>
        </p:txBody>
      </p:sp>
      <p:sp>
        <p:nvSpPr>
          <p:cNvPr id="2071" name="Rectangle 38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2" name="Rectangle 41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3" name="Rectangle 44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4" name="Rectangle 47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sp>
        <p:nvSpPr>
          <p:cNvPr id="2075" name="Rectangle 50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endParaRPr lang="pt-BR" altLang="pt-BR" sz="8500"/>
          </a:p>
        </p:txBody>
      </p:sp>
      <p:pic>
        <p:nvPicPr>
          <p:cNvPr id="2130" name="Imagem 35" descr="LOGO FVE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4268" y="689066"/>
            <a:ext cx="6715125" cy="152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31" name="Imagem 36" descr="LOGO COLEGIOS.png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172346" y="602250"/>
            <a:ext cx="3619500" cy="196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8" name="Text Box 8"/>
          <p:cNvSpPr txBox="1">
            <a:spLocks noChangeArrowheads="1"/>
          </p:cNvSpPr>
          <p:nvPr/>
        </p:nvSpPr>
        <p:spPr bwMode="auto">
          <a:xfrm>
            <a:off x="16517495" y="21849832"/>
            <a:ext cx="14405977" cy="808037"/>
          </a:xfrm>
          <a:prstGeom prst="rect">
            <a:avLst/>
          </a:prstGeom>
          <a:gradFill rotWithShape="1">
            <a:gsLst>
              <a:gs pos="0">
                <a:schemeClr val="tx2">
                  <a:lumMod val="60000"/>
                  <a:lumOff val="40000"/>
                </a:schemeClr>
              </a:gs>
              <a:gs pos="100000">
                <a:srgbClr val="FFEBCD">
                  <a:alpha val="0"/>
                </a:srgbClr>
              </a:gs>
            </a:gsLst>
            <a:lin ang="0" scaled="1"/>
          </a:gradFill>
          <a:ln w="9525">
            <a:noFill/>
            <a:miter lim="800000"/>
          </a:ln>
          <a:effectLst/>
        </p:spPr>
        <p:txBody>
          <a:bodyPr wrap="square" lIns="91415" tIns="45705" rIns="91415" bIns="45705">
            <a:spAutoFit/>
          </a:bodyPr>
          <a:lstStyle/>
          <a:p>
            <a:pPr defTabSz="4317365">
              <a:defRPr/>
            </a:pPr>
            <a:r>
              <a:rPr lang="pt-BR" sz="4700" b="1" dirty="0">
                <a:effectLst>
                  <a:outerShdw blurRad="38100" dist="38100" dir="2700000" algn="tl">
                    <a:srgbClr val="FFFFFF"/>
                  </a:outerShdw>
                </a:effectLst>
                <a:cs typeface="Times New Roman" panose="02020603050405020304" pitchFamily="18" charset="0"/>
              </a:rPr>
              <a:t>DISCUSSÃO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29471" y="1118705"/>
            <a:ext cx="29162375" cy="7200900"/>
          </a:xfrm>
        </p:spPr>
        <p:txBody>
          <a:bodyPr>
            <a:noAutofit/>
          </a:bodyPr>
          <a:lstStyle/>
          <a:p>
            <a:r>
              <a:rPr lang="pt-BR" sz="6600" b="1" dirty="0"/>
              <a:t>ECOSSISTEMA ESCOLAR: DESENVOLVIMENTO DE UMA PLATAFORMA DIGITAL PARA GESTÃO E COMUNICAÇÃO ACADÊMICA</a:t>
            </a:r>
            <a:br>
              <a:rPr lang="pt-BR" sz="6600" dirty="0"/>
            </a:br>
            <a:r>
              <a:rPr lang="pt-BR" sz="6600" b="1" dirty="0"/>
              <a:t> </a:t>
            </a:r>
            <a:br>
              <a:rPr lang="pt-BR" sz="6600" dirty="0"/>
            </a:br>
            <a:endParaRPr lang="pt-BR" sz="6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64" name="Espaço Reservado para Conteúdo 21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84626286"/>
              </p:ext>
            </p:extLst>
          </p:nvPr>
        </p:nvGraphicFramePr>
        <p:xfrm>
          <a:off x="5743575" y="63507938"/>
          <a:ext cx="51401663" cy="1796430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A731F956-465F-09C1-4A34-67204C72A9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2" name="CaixaDeTexto 41"/>
          <p:cNvSpPr txBox="1"/>
          <p:nvPr/>
        </p:nvSpPr>
        <p:spPr>
          <a:xfrm>
            <a:off x="16515508" y="22655854"/>
            <a:ext cx="14709169" cy="5910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3200" dirty="0"/>
              <a:t>	Em relação a soluções já consolidadas, como Google Classroom e Moodle, o Ecossistema Escolar se diferencia por centralizar comunicação instantânea, notificações via WhatsApp e apoio ao estudo por inteligência artificial em uma única plataforma.</a:t>
            </a:r>
          </a:p>
          <a:p>
            <a:pPr algn="just">
              <a:lnSpc>
                <a:spcPct val="150000"/>
              </a:lnSpc>
            </a:pPr>
            <a:r>
              <a:rPr lang="pt-BR" sz="3200" dirty="0"/>
              <a:t>	Embora ainda não possua o mesmo grau de maturidade dessas plataformas, o sistema demonstrou potencial para atender necessidades específicas de instituições que hoje dependem de ferramentas isoladas para comunicação e organização acadêmica.</a:t>
            </a:r>
          </a:p>
        </p:txBody>
      </p:sp>
      <p:sp>
        <p:nvSpPr>
          <p:cNvPr id="8" name="Caixa de Texto 7"/>
          <p:cNvSpPr txBox="1"/>
          <p:nvPr/>
        </p:nvSpPr>
        <p:spPr>
          <a:xfrm>
            <a:off x="2580800" y="24513787"/>
            <a:ext cx="106571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 defTabSz="266700">
              <a:spcBef>
                <a:spcPct val="0"/>
              </a:spcBef>
              <a:spcAft>
                <a:spcPct val="0"/>
              </a:spcAft>
            </a:pPr>
            <a:r>
              <a:rPr sz="2700" dirty="0" err="1">
                <a:latin typeface="Arial" panose="020B0604020202020204"/>
                <a:ea typeface="Times New Roman" panose="02020603050405020304"/>
              </a:rPr>
              <a:t>Figura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</a:t>
            </a:r>
            <a:r>
              <a:rPr lang="pt-BR" sz="2700" dirty="0">
                <a:latin typeface="Arial" panose="020B0604020202020204"/>
                <a:ea typeface="Times New Roman" panose="02020603050405020304"/>
              </a:rPr>
              <a:t>1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-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Arquitetura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do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servidor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: banco de dados (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tabelas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de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escola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,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usuário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função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) e </a:t>
            </a:r>
            <a:r>
              <a:rPr sz="2700" dirty="0" err="1">
                <a:latin typeface="Arial" panose="020B0604020202020204"/>
                <a:ea typeface="Times New Roman" panose="02020603050405020304"/>
              </a:rPr>
              <a:t>autenticação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.</a:t>
            </a:r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auto">
          <a:xfrm>
            <a:off x="-1306150" y="33684582"/>
            <a:ext cx="1746026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809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Fonte: Autores (2026).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188" name="Picture 2187" descr="banner_fig_arquitetur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3168" y="25652094"/>
            <a:ext cx="14861298" cy="8111319"/>
          </a:xfrm>
          <a:prstGeom prst="rect">
            <a:avLst/>
          </a:prstGeom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7C30209F-DE3A-7301-DA2B-0DD0BCBF02C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5189" r="15484"/>
          <a:stretch>
            <a:fillRect/>
          </a:stretch>
        </p:blipFill>
        <p:spPr bwMode="auto">
          <a:xfrm>
            <a:off x="16275721" y="12974884"/>
            <a:ext cx="14962454" cy="767922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4" name="Rectangle 9">
            <a:extLst>
              <a:ext uri="{FF2B5EF4-FFF2-40B4-BE49-F238E27FC236}">
                <a16:creationId xmlns:a16="http://schemas.microsoft.com/office/drawing/2014/main" id="{F3DFEA89-3C42-5FC2-39DA-38A771690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46005" y="20780399"/>
            <a:ext cx="147224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180975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pt-BR" altLang="pt-BR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Fonte: Autores (2026).</a:t>
            </a:r>
            <a:endParaRPr kumimoji="0" lang="pt-BR" altLang="pt-B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Caixa de Texto 7">
            <a:extLst>
              <a:ext uri="{FF2B5EF4-FFF2-40B4-BE49-F238E27FC236}">
                <a16:creationId xmlns:a16="http://schemas.microsoft.com/office/drawing/2014/main" id="{B708A9F2-BE9B-B11F-D038-078FDF766E67}"/>
              </a:ext>
            </a:extLst>
          </p:cNvPr>
          <p:cNvSpPr txBox="1"/>
          <p:nvPr/>
        </p:nvSpPr>
        <p:spPr>
          <a:xfrm>
            <a:off x="18478642" y="12366937"/>
            <a:ext cx="10657184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266700"/>
            <a:r>
              <a:rPr sz="2700" dirty="0" err="1">
                <a:latin typeface="Arial" panose="020B0604020202020204"/>
                <a:ea typeface="Times New Roman" panose="02020603050405020304"/>
              </a:rPr>
              <a:t>Figura</a:t>
            </a:r>
            <a:r>
              <a:rPr sz="2700" dirty="0">
                <a:latin typeface="Arial" panose="020B0604020202020204"/>
                <a:ea typeface="Times New Roman" panose="02020603050405020304"/>
              </a:rPr>
              <a:t> </a:t>
            </a:r>
            <a:r>
              <a:rPr lang="pt-BR" sz="2700" dirty="0">
                <a:latin typeface="Arial" panose="020B0604020202020204"/>
                <a:ea typeface="Times New Roman" panose="02020603050405020304"/>
              </a:rPr>
              <a:t>2 - </a:t>
            </a:r>
            <a:r>
              <a:rPr lang="en-US" sz="2700" dirty="0" err="1"/>
              <a:t>Painel</a:t>
            </a:r>
            <a:r>
              <a:rPr lang="en-US" sz="2700" dirty="0"/>
              <a:t> </a:t>
            </a:r>
            <a:r>
              <a:rPr lang="en-US" sz="2700" dirty="0" err="1"/>
              <a:t>inicial</a:t>
            </a:r>
            <a:r>
              <a:rPr lang="en-US" sz="2700" dirty="0"/>
              <a:t> (dashboard) da </a:t>
            </a:r>
            <a:r>
              <a:rPr lang="en-US" sz="2700" dirty="0" err="1"/>
              <a:t>plataforma</a:t>
            </a:r>
            <a:endParaRPr sz="2700" dirty="0">
              <a:latin typeface="Arial" panose="020B0604020202020204"/>
              <a:ea typeface="Times New Roman" panose="02020603050405020304"/>
            </a:endParaRPr>
          </a:p>
        </p:txBody>
      </p:sp>
      <p:sp>
        <p:nvSpPr>
          <p:cNvPr id="26" name="CaixaDeTexto 26">
            <a:extLst>
              <a:ext uri="{FF2B5EF4-FFF2-40B4-BE49-F238E27FC236}">
                <a16:creationId xmlns:a16="http://schemas.microsoft.com/office/drawing/2014/main" id="{5E70CAB6-AD04-5E7C-C830-1D7C196753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91961" y="7135223"/>
            <a:ext cx="14719103" cy="56641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24" tIns="45710" rIns="91424" bIns="45710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pt-BR" sz="3200" dirty="0"/>
              <a:t>	</a:t>
            </a:r>
            <a:r>
              <a:rPr lang="en-US" sz="3200" dirty="0"/>
              <a:t>Para </a:t>
            </a:r>
            <a:r>
              <a:rPr lang="en-US" sz="3200" dirty="0" err="1"/>
              <a:t>avaliar</a:t>
            </a:r>
            <a:r>
              <a:rPr lang="en-US" sz="3200" dirty="0"/>
              <a:t> o </a:t>
            </a:r>
            <a:r>
              <a:rPr lang="en-US" sz="3200" dirty="0" err="1"/>
              <a:t>desempenho</a:t>
            </a:r>
            <a:r>
              <a:rPr lang="en-US" sz="3200" dirty="0"/>
              <a:t> </a:t>
            </a:r>
            <a:r>
              <a:rPr lang="en-US" sz="3200" dirty="0" err="1"/>
              <a:t>prático</a:t>
            </a:r>
            <a:r>
              <a:rPr lang="en-US" sz="3200" dirty="0"/>
              <a:t> e a </a:t>
            </a:r>
            <a:r>
              <a:rPr lang="en-US" sz="3200" dirty="0" err="1"/>
              <a:t>aceitação</a:t>
            </a:r>
            <a:r>
              <a:rPr lang="en-US" sz="3200" dirty="0"/>
              <a:t> da ferramenta, </a:t>
            </a:r>
            <a:r>
              <a:rPr lang="en-US" sz="3200" dirty="0" err="1"/>
              <a:t>além</a:t>
            </a:r>
            <a:r>
              <a:rPr lang="en-US" sz="3200" dirty="0"/>
              <a:t> da </a:t>
            </a:r>
            <a:r>
              <a:rPr lang="en-US" sz="3200" dirty="0" err="1"/>
              <a:t>validação</a:t>
            </a:r>
            <a:r>
              <a:rPr lang="en-US" sz="3200" dirty="0"/>
              <a:t> </a:t>
            </a:r>
            <a:r>
              <a:rPr lang="en-US" sz="3200" dirty="0" err="1"/>
              <a:t>técnica</a:t>
            </a:r>
            <a:r>
              <a:rPr lang="en-US" sz="3200" dirty="0"/>
              <a:t> de </a:t>
            </a:r>
            <a:r>
              <a:rPr lang="en-US" sz="3200" dirty="0" err="1"/>
              <a:t>fluxos</a:t>
            </a:r>
            <a:r>
              <a:rPr lang="en-US" sz="3200" dirty="0"/>
              <a:t> via testes </a:t>
            </a:r>
            <a:r>
              <a:rPr lang="en-US" sz="3200" dirty="0" err="1"/>
              <a:t>manuais</a:t>
            </a:r>
            <a:r>
              <a:rPr lang="en-US" sz="3200" dirty="0"/>
              <a:t> e endpoints no Postman, a </a:t>
            </a:r>
            <a:r>
              <a:rPr lang="en-US" sz="3200" dirty="0" err="1"/>
              <a:t>plataforma</a:t>
            </a:r>
            <a:r>
              <a:rPr lang="en-US" sz="3200" dirty="0"/>
              <a:t> </a:t>
            </a:r>
            <a:r>
              <a:rPr lang="en-US" sz="3200" dirty="0" err="1"/>
              <a:t>passou</a:t>
            </a:r>
            <a:r>
              <a:rPr lang="en-US" sz="3200" dirty="0"/>
              <a:t> </a:t>
            </a:r>
            <a:r>
              <a:rPr lang="en-US" sz="3200" dirty="0" err="1"/>
              <a:t>por</a:t>
            </a:r>
            <a:r>
              <a:rPr lang="en-US" sz="3200" dirty="0"/>
              <a:t> um teste </a:t>
            </a:r>
            <a:r>
              <a:rPr lang="en-US" sz="3200" dirty="0" err="1"/>
              <a:t>piloto</a:t>
            </a:r>
            <a:r>
              <a:rPr lang="en-US" sz="3200" dirty="0"/>
              <a:t> de </a:t>
            </a:r>
            <a:r>
              <a:rPr lang="en-US" sz="3200" dirty="0" err="1"/>
              <a:t>usabilidade</a:t>
            </a:r>
            <a:r>
              <a:rPr lang="en-US" sz="3200" dirty="0"/>
              <a:t> </a:t>
            </a:r>
            <a:r>
              <a:rPr lang="en-US" sz="3200" dirty="0" err="1"/>
              <a:t>em</a:t>
            </a:r>
            <a:r>
              <a:rPr lang="en-US" sz="3200" dirty="0"/>
              <a:t> </a:t>
            </a:r>
            <a:r>
              <a:rPr lang="en-US" sz="3200" dirty="0" err="1"/>
              <a:t>ambiente</a:t>
            </a:r>
            <a:r>
              <a:rPr lang="en-US" sz="3200" dirty="0"/>
              <a:t> </a:t>
            </a:r>
            <a:r>
              <a:rPr lang="en-US" sz="3200" dirty="0" err="1"/>
              <a:t>controlado</a:t>
            </a:r>
            <a:r>
              <a:rPr lang="en-US" sz="3200" dirty="0"/>
              <a:t>. A </a:t>
            </a:r>
            <a:r>
              <a:rPr lang="en-US" sz="3200" dirty="0" err="1"/>
              <a:t>amostra</a:t>
            </a:r>
            <a:r>
              <a:rPr lang="en-US" sz="3200" dirty="0"/>
              <a:t> </a:t>
            </a:r>
            <a:r>
              <a:rPr lang="en-US" sz="3200" dirty="0" err="1"/>
              <a:t>contou</a:t>
            </a:r>
            <a:r>
              <a:rPr lang="en-US" sz="3200" dirty="0"/>
              <a:t> com a </a:t>
            </a:r>
            <a:r>
              <a:rPr lang="en-US" sz="3200" dirty="0" err="1"/>
              <a:t>participação</a:t>
            </a:r>
            <a:r>
              <a:rPr lang="en-US" sz="3200" dirty="0"/>
              <a:t> de 10 </a:t>
            </a:r>
            <a:r>
              <a:rPr lang="en-US" sz="3200" dirty="0" err="1"/>
              <a:t>alunos</a:t>
            </a:r>
            <a:r>
              <a:rPr lang="en-US" sz="3200" dirty="0"/>
              <a:t>, </a:t>
            </a:r>
            <a:r>
              <a:rPr lang="en-US" sz="3200" dirty="0" err="1"/>
              <a:t>utilizando</a:t>
            </a:r>
            <a:r>
              <a:rPr lang="en-US" sz="3200" dirty="0"/>
              <a:t> dados reais </a:t>
            </a:r>
            <a:r>
              <a:rPr lang="en-US" sz="3200" dirty="0" err="1"/>
              <a:t>controlados</a:t>
            </a:r>
            <a:r>
              <a:rPr lang="en-US" sz="3200" dirty="0"/>
              <a:t> e </a:t>
            </a:r>
            <a:r>
              <a:rPr lang="en-US" sz="3200" dirty="0" err="1"/>
              <a:t>não</a:t>
            </a:r>
            <a:r>
              <a:rPr lang="en-US" sz="3200" dirty="0"/>
              <a:t> </a:t>
            </a:r>
            <a:r>
              <a:rPr lang="en-US" sz="3200" dirty="0" err="1"/>
              <a:t>sensíveis</a:t>
            </a:r>
            <a:r>
              <a:rPr lang="en-US" sz="3200" dirty="0"/>
              <a:t> dos </a:t>
            </a:r>
            <a:r>
              <a:rPr lang="en-US" sz="3200" dirty="0" err="1"/>
              <a:t>próprios</a:t>
            </a:r>
            <a:r>
              <a:rPr lang="en-US" sz="3200" dirty="0"/>
              <a:t> </a:t>
            </a:r>
            <a:r>
              <a:rPr lang="en-US" sz="3200" dirty="0" err="1"/>
              <a:t>voluntários</a:t>
            </a:r>
            <a:r>
              <a:rPr lang="en-US" sz="3200" dirty="0"/>
              <a:t> (</a:t>
            </a:r>
            <a:r>
              <a:rPr lang="en-US" sz="3200" dirty="0" err="1"/>
              <a:t>como</a:t>
            </a:r>
            <a:r>
              <a:rPr lang="en-US" sz="3200" dirty="0"/>
              <a:t> e-mail e </a:t>
            </a:r>
            <a:r>
              <a:rPr lang="en-US" sz="3200" dirty="0" err="1"/>
              <a:t>número</a:t>
            </a:r>
            <a:r>
              <a:rPr lang="en-US" sz="3200" dirty="0"/>
              <a:t> de </a:t>
            </a:r>
            <a:r>
              <a:rPr lang="en-US" sz="3200" dirty="0" err="1"/>
              <a:t>telefone</a:t>
            </a:r>
            <a:r>
              <a:rPr lang="en-US" sz="3200" dirty="0"/>
              <a:t> para o </a:t>
            </a:r>
            <a:r>
              <a:rPr lang="en-US" sz="3200" dirty="0" err="1"/>
              <a:t>recebimento</a:t>
            </a:r>
            <a:r>
              <a:rPr lang="en-US" sz="3200" dirty="0"/>
              <a:t> </a:t>
            </a:r>
            <a:r>
              <a:rPr lang="en-US" sz="3200" dirty="0" err="1"/>
              <a:t>efetivo</a:t>
            </a:r>
            <a:r>
              <a:rPr lang="en-US" sz="3200" dirty="0"/>
              <a:t> das </a:t>
            </a:r>
            <a:r>
              <a:rPr lang="en-US" sz="3200" dirty="0" err="1"/>
              <a:t>notificações</a:t>
            </a:r>
            <a:r>
              <a:rPr lang="en-US" sz="3200" dirty="0"/>
              <a:t> via WhatsApp e Evolution API). </a:t>
            </a:r>
          </a:p>
          <a:p>
            <a:pPr algn="just">
              <a:lnSpc>
                <a:spcPct val="100000"/>
              </a:lnSpc>
            </a:pPr>
            <a:r>
              <a:rPr lang="en-US" sz="3200" dirty="0"/>
              <a:t>	A </a:t>
            </a:r>
            <a:r>
              <a:rPr lang="en-US" sz="3200" dirty="0" err="1"/>
              <a:t>avaliação</a:t>
            </a:r>
            <a:r>
              <a:rPr lang="en-US" sz="3200" dirty="0"/>
              <a:t> </a:t>
            </a:r>
            <a:r>
              <a:rPr lang="en-US" sz="3200" dirty="0" err="1"/>
              <a:t>qualitativa</a:t>
            </a:r>
            <a:r>
              <a:rPr lang="en-US" sz="3200" dirty="0"/>
              <a:t> </a:t>
            </a:r>
            <a:r>
              <a:rPr lang="en-US" sz="3200" dirty="0" err="1"/>
              <a:t>indicou</a:t>
            </a:r>
            <a:r>
              <a:rPr lang="en-US" sz="3200" dirty="0"/>
              <a:t> </a:t>
            </a:r>
            <a:r>
              <a:rPr lang="en-US" sz="3200" dirty="0" err="1"/>
              <a:t>elevada</a:t>
            </a:r>
            <a:r>
              <a:rPr lang="en-US" sz="3200" dirty="0"/>
              <a:t> </a:t>
            </a:r>
            <a:r>
              <a:rPr lang="en-US" sz="3200" dirty="0" err="1"/>
              <a:t>aceitação</a:t>
            </a:r>
            <a:r>
              <a:rPr lang="en-US" sz="3200" dirty="0"/>
              <a:t>, com </a:t>
            </a:r>
            <a:r>
              <a:rPr lang="en-US" sz="3200" dirty="0" err="1"/>
              <a:t>retornos</a:t>
            </a:r>
            <a:r>
              <a:rPr lang="en-US" sz="3200" dirty="0"/>
              <a:t> </a:t>
            </a:r>
            <a:r>
              <a:rPr lang="en-US" sz="3200" dirty="0" err="1"/>
              <a:t>positivos</a:t>
            </a:r>
            <a:r>
              <a:rPr lang="en-US" sz="3200" dirty="0"/>
              <a:t> </a:t>
            </a:r>
            <a:r>
              <a:rPr lang="en-US" sz="3200" dirty="0" err="1"/>
              <a:t>voltados</a:t>
            </a:r>
            <a:r>
              <a:rPr lang="en-US" sz="3200" dirty="0"/>
              <a:t> à </a:t>
            </a:r>
            <a:r>
              <a:rPr lang="en-US" sz="3200" dirty="0" err="1"/>
              <a:t>fluidez</a:t>
            </a:r>
            <a:r>
              <a:rPr lang="en-US" sz="3200" dirty="0"/>
              <a:t> da interface, à </a:t>
            </a:r>
            <a:r>
              <a:rPr lang="en-US" sz="3200" dirty="0" err="1"/>
              <a:t>comodidade</a:t>
            </a:r>
            <a:r>
              <a:rPr lang="en-US" sz="3200" dirty="0"/>
              <a:t> de ter </a:t>
            </a:r>
            <a:r>
              <a:rPr lang="en-US" sz="3200" dirty="0" err="1"/>
              <a:t>os</a:t>
            </a:r>
            <a:r>
              <a:rPr lang="en-US" sz="3200" dirty="0"/>
              <a:t> </a:t>
            </a:r>
            <a:r>
              <a:rPr lang="en-US" sz="3200" dirty="0" err="1"/>
              <a:t>compromissos</a:t>
            </a:r>
            <a:r>
              <a:rPr lang="en-US" sz="3200" dirty="0"/>
              <a:t> </a:t>
            </a:r>
            <a:r>
              <a:rPr lang="en-US" sz="3200" dirty="0" err="1"/>
              <a:t>escolares</a:t>
            </a:r>
            <a:r>
              <a:rPr lang="en-US" sz="3200" dirty="0"/>
              <a:t> </a:t>
            </a:r>
            <a:r>
              <a:rPr lang="en-US" sz="3200" dirty="0" err="1"/>
              <a:t>centralizados</a:t>
            </a:r>
            <a:r>
              <a:rPr lang="en-US" sz="3200" dirty="0"/>
              <a:t> e à </a:t>
            </a:r>
            <a:r>
              <a:rPr lang="en-US" sz="3200" dirty="0" err="1"/>
              <a:t>pertinência</a:t>
            </a:r>
            <a:r>
              <a:rPr lang="en-US" sz="3200" dirty="0"/>
              <a:t> dos </a:t>
            </a:r>
            <a:r>
              <a:rPr lang="en-US" sz="3200" dirty="0" err="1"/>
              <a:t>materiais</a:t>
            </a:r>
            <a:r>
              <a:rPr lang="en-US" sz="3200" dirty="0"/>
              <a:t> </a:t>
            </a:r>
            <a:r>
              <a:rPr lang="en-US" sz="3200" dirty="0" err="1"/>
              <a:t>sugeridos</a:t>
            </a:r>
            <a:r>
              <a:rPr lang="en-US" sz="3200" dirty="0"/>
              <a:t> </a:t>
            </a:r>
            <a:r>
              <a:rPr lang="en-US" sz="3200" dirty="0" err="1"/>
              <a:t>pelo</a:t>
            </a:r>
            <a:r>
              <a:rPr lang="en-US" sz="3200" dirty="0"/>
              <a:t> </a:t>
            </a:r>
            <a:r>
              <a:rPr lang="en-US" sz="3200" dirty="0" err="1"/>
              <a:t>assistente</a:t>
            </a:r>
            <a:r>
              <a:rPr lang="en-US" sz="3200" dirty="0"/>
              <a:t> virtual.</a:t>
            </a:r>
            <a:endParaRPr lang="pt-BR" sz="3200" dirty="0"/>
          </a:p>
          <a:p>
            <a:pPr algn="just">
              <a:lnSpc>
                <a:spcPct val="150000"/>
              </a:lnSpc>
            </a:pPr>
            <a:endParaRPr lang="pt-BR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821</Words>
  <Application>Microsoft Office PowerPoint</Application>
  <PresentationFormat>Personalizar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MT Pro</vt:lpstr>
      <vt:lpstr>Calibri</vt:lpstr>
      <vt:lpstr>Times New Roman</vt:lpstr>
      <vt:lpstr>Tema do Office</vt:lpstr>
      <vt:lpstr>ECOSSISTEMA ESCOLAR: DESENVOLVIMENTO DE UMA PLATAFORMA DIGITAL PARA GESTÃO E COMUNICAÇÃO ACADÊMICA  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bb</dc:creator>
  <cp:lastModifiedBy>PAULO RODOLFO BARBOSA</cp:lastModifiedBy>
  <cp:revision>163</cp:revision>
  <dcterms:created xsi:type="dcterms:W3CDTF">2006-10-17T17:23:00Z</dcterms:created>
  <dcterms:modified xsi:type="dcterms:W3CDTF">2026-09-25T17:18:19Z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39ED26A13F3342959E540CC92CC3BD6D_13</vt:lpwstr>
  </property>
  <property fmtid="{D5CDD505-2E9C-101B-9397-08002B2CF9AE}" pid="3" name="KSOProductBuildVer">
    <vt:lpwstr>1046-12.2.0.22549</vt:lpwstr>
  </property>
</Properties>
</file>